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5143500" cx="9144000"/>
  <p:notesSz cx="6858000" cy="9144000"/>
  <p:embeddedFontLst>
    <p:embeddedFont>
      <p:font typeface="Fira Sans Condensed Light"/>
      <p:regular r:id="rId17"/>
      <p:bold r:id="rId18"/>
      <p:italic r:id="rId19"/>
      <p:boldItalic r:id="rId20"/>
    </p:embeddedFont>
    <p:embeddedFont>
      <p:font typeface="Fira Sans Condensed"/>
      <p:regular r:id="rId21"/>
      <p:bold r:id="rId22"/>
      <p:italic r:id="rId23"/>
      <p:boldItalic r:id="rId24"/>
    </p:embeddedFont>
    <p:embeddedFont>
      <p:font typeface="Rajdhani"/>
      <p:regular r:id="rId25"/>
      <p:bold r:id="rId2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25">
          <p15:clr>
            <a:srgbClr val="9AA0A6"/>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25"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FiraSansCondensedLight-boldItalic.fntdata"/><Relationship Id="rId22" Type="http://schemas.openxmlformats.org/officeDocument/2006/relationships/font" Target="fonts/FiraSansCondensed-bold.fntdata"/><Relationship Id="rId21" Type="http://schemas.openxmlformats.org/officeDocument/2006/relationships/font" Target="fonts/FiraSansCondensed-regular.fntdata"/><Relationship Id="rId24" Type="http://schemas.openxmlformats.org/officeDocument/2006/relationships/font" Target="fonts/FiraSansCondensed-boldItalic.fntdata"/><Relationship Id="rId23" Type="http://schemas.openxmlformats.org/officeDocument/2006/relationships/font" Target="fonts/FiraSansCondense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font" Target="fonts/Rajdhani-bold.fntdata"/><Relationship Id="rId25" Type="http://schemas.openxmlformats.org/officeDocument/2006/relationships/font" Target="fonts/Rajdhani-regular.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FiraSansCondensedLight-regular.fntdata"/><Relationship Id="rId16" Type="http://schemas.openxmlformats.org/officeDocument/2006/relationships/slide" Target="slides/slide11.xml"/><Relationship Id="rId19" Type="http://schemas.openxmlformats.org/officeDocument/2006/relationships/font" Target="fonts/FiraSansCondensedLight-italic.fntdata"/><Relationship Id="rId18" Type="http://schemas.openxmlformats.org/officeDocument/2006/relationships/font" Target="fonts/FiraSansCondensedLight-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708a6ee8a1_0_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708a6ee8a1_0_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aec20b4b10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aec20b4b10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Today, our team is presenting a project that explores how </a:t>
            </a:r>
            <a:r>
              <a:rPr b="1" lang="en">
                <a:solidFill>
                  <a:schemeClr val="dk1"/>
                </a:solidFill>
              </a:rPr>
              <a:t>AI, programming skills, and industry trends</a:t>
            </a:r>
            <a:r>
              <a:rPr lang="en">
                <a:solidFill>
                  <a:schemeClr val="dk1"/>
                </a:solidFill>
              </a:rPr>
              <a:t> are shaping </a:t>
            </a:r>
            <a:r>
              <a:rPr b="1" lang="en">
                <a:solidFill>
                  <a:schemeClr val="dk1"/>
                </a:solidFill>
              </a:rPr>
              <a:t>student career readiness</a:t>
            </a:r>
            <a:r>
              <a:rPr lang="en">
                <a:solidFill>
                  <a:schemeClr val="dk1"/>
                </a:solidFill>
              </a:rPr>
              <a:t>. We combined real-world developer data with enterprise AI adoption insights to understand one simple question — </a:t>
            </a:r>
            <a:r>
              <a:rPr i="1" lang="en">
                <a:solidFill>
                  <a:schemeClr val="dk1"/>
                </a:solidFill>
              </a:rPr>
              <a:t>what skills actually matter for students entering today’s job market?</a:t>
            </a:r>
            <a:r>
              <a:rPr lang="en">
                <a:solidFill>
                  <a:schemeClr val="dk1"/>
                </a:solidFill>
              </a:rPr>
              <a:t> This study is designed to turn industry trends into practical guidance for students planning their future careers.”</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16bcecd75ae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16bcecd75ae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“Here’s a quick overview of what we’ll be covering today. I’ll begin with our </a:t>
            </a:r>
            <a:r>
              <a:rPr b="1" lang="en">
                <a:solidFill>
                  <a:schemeClr val="dk1"/>
                </a:solidFill>
              </a:rPr>
              <a:t>introduction and dataset overview</a:t>
            </a:r>
            <a:r>
              <a:rPr lang="en">
                <a:solidFill>
                  <a:schemeClr val="dk1"/>
                </a:solidFill>
              </a:rPr>
              <a:t>, followed by our teammate who will explain </a:t>
            </a:r>
            <a:r>
              <a:rPr b="1" lang="en">
                <a:solidFill>
                  <a:schemeClr val="dk1"/>
                </a:solidFill>
              </a:rPr>
              <a:t>how we scraped and extracted the data</a:t>
            </a:r>
            <a:r>
              <a:rPr lang="en">
                <a:solidFill>
                  <a:schemeClr val="dk1"/>
                </a:solidFill>
              </a:rPr>
              <a:t>. Then we’ll walk through the </a:t>
            </a:r>
            <a:r>
              <a:rPr b="1" lang="en">
                <a:solidFill>
                  <a:schemeClr val="dk1"/>
                </a:solidFill>
              </a:rPr>
              <a:t>ER diagram</a:t>
            </a:r>
            <a:r>
              <a:rPr lang="en">
                <a:solidFill>
                  <a:schemeClr val="dk1"/>
                </a:solidFill>
              </a:rPr>
              <a:t>, which shows how the data is structured. After that, we’ll present our </a:t>
            </a:r>
            <a:r>
              <a:rPr b="1" lang="en">
                <a:solidFill>
                  <a:schemeClr val="dk1"/>
                </a:solidFill>
              </a:rPr>
              <a:t>dashboards</a:t>
            </a:r>
            <a:r>
              <a:rPr lang="en">
                <a:solidFill>
                  <a:schemeClr val="dk1"/>
                </a:solidFill>
              </a:rPr>
              <a:t> that highlight AI adoption and programming trends. Finally, we’ll wrap up with </a:t>
            </a:r>
            <a:r>
              <a:rPr b="1" lang="en">
                <a:solidFill>
                  <a:schemeClr val="dk1"/>
                </a:solidFill>
              </a:rPr>
              <a:t>key limitations, risks, and takeaways</a:t>
            </a:r>
            <a:r>
              <a:rPr lang="en">
                <a:solidFill>
                  <a:schemeClr val="dk1"/>
                </a:solidFill>
              </a:rPr>
              <a:t> from our study.”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aec20b4b10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aec20b4b10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The main goal of our project is to understand how </a:t>
            </a:r>
            <a:r>
              <a:rPr b="1" lang="en">
                <a:solidFill>
                  <a:schemeClr val="dk1"/>
                </a:solidFill>
              </a:rPr>
              <a:t>skills, salaries, AI adoption, and geography</a:t>
            </a:r>
            <a:r>
              <a:rPr lang="en">
                <a:solidFill>
                  <a:schemeClr val="dk1"/>
                </a:solidFill>
              </a:rPr>
              <a:t> impact </a:t>
            </a:r>
            <a:r>
              <a:rPr b="1" lang="en">
                <a:solidFill>
                  <a:schemeClr val="dk1"/>
                </a:solidFill>
              </a:rPr>
              <a:t>student career readiness</a:t>
            </a:r>
            <a:r>
              <a:rPr lang="en">
                <a:solidFill>
                  <a:schemeClr val="dk1"/>
                </a:solidFill>
              </a:rPr>
              <a:t>. Students are our main stakeholders because they need </a:t>
            </a:r>
            <a:r>
              <a:rPr b="1" lang="en">
                <a:solidFill>
                  <a:schemeClr val="dk1"/>
                </a:solidFill>
              </a:rPr>
              <a:t>accurate and forward-looking insights</a:t>
            </a:r>
            <a:r>
              <a:rPr lang="en">
                <a:solidFill>
                  <a:schemeClr val="dk1"/>
                </a:solidFill>
              </a:rPr>
              <a:t> to make confident career decisions.</a:t>
            </a:r>
            <a:br>
              <a:rPr lang="en">
                <a:solidFill>
                  <a:schemeClr val="dk1"/>
                </a:solidFill>
              </a:rPr>
            </a:br>
            <a:r>
              <a:rPr lang="en">
                <a:solidFill>
                  <a:schemeClr val="dk1"/>
                </a:solidFill>
              </a:rPr>
              <a:t>We analyzed </a:t>
            </a:r>
            <a:r>
              <a:rPr b="1" lang="en">
                <a:solidFill>
                  <a:schemeClr val="dk1"/>
                </a:solidFill>
              </a:rPr>
              <a:t>technology preferences across experience levels</a:t>
            </a:r>
            <a:r>
              <a:rPr lang="en">
                <a:solidFill>
                  <a:schemeClr val="dk1"/>
                </a:solidFill>
              </a:rPr>
              <a:t>, </a:t>
            </a:r>
            <a:r>
              <a:rPr b="1" lang="en">
                <a:solidFill>
                  <a:schemeClr val="dk1"/>
                </a:solidFill>
              </a:rPr>
              <a:t>salary differences across skills and roles</a:t>
            </a:r>
            <a:r>
              <a:rPr lang="en">
                <a:solidFill>
                  <a:schemeClr val="dk1"/>
                </a:solidFill>
              </a:rPr>
              <a:t>, and the </a:t>
            </a:r>
            <a:r>
              <a:rPr b="1" lang="en">
                <a:solidFill>
                  <a:schemeClr val="dk1"/>
                </a:solidFill>
              </a:rPr>
              <a:t>rapid growth of AI in the workplace</a:t>
            </a:r>
            <a:r>
              <a:rPr lang="en">
                <a:solidFill>
                  <a:schemeClr val="dk1"/>
                </a:solidFill>
              </a:rPr>
              <a:t>.</a:t>
            </a:r>
            <a:br>
              <a:rPr lang="en">
                <a:solidFill>
                  <a:schemeClr val="dk1"/>
                </a:solidFill>
              </a:rPr>
            </a:br>
            <a:r>
              <a:rPr lang="en">
                <a:solidFill>
                  <a:schemeClr val="dk1"/>
                </a:solidFill>
              </a:rPr>
              <a:t>In simple terms, this study helps students understand </a:t>
            </a:r>
            <a:r>
              <a:rPr b="1" lang="en">
                <a:solidFill>
                  <a:schemeClr val="dk1"/>
                </a:solidFill>
              </a:rPr>
              <a:t>what to learn, what skills pay off, and how to prepare for an AI-driven future</a:t>
            </a:r>
            <a:r>
              <a:rPr lang="en">
                <a:solidFill>
                  <a:schemeClr val="dk1"/>
                </a:solidFill>
              </a:rPr>
              <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917150eaf2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917150eaf2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917150eaf2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917150eaf2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16bcecd75ae_0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16bcecd75ae_0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3aec20b4b10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6" name="Google Shape;96;g3aec20b4b10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3aec20b4b10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3" name="Google Shape;103;g3aec20b4b10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“So overall, what this analysis shows is that today’s industry trends—especially in AI, skill demand, and salary structures—are directly shaping what students need to focus on as they prepare for technical careers. One of the biggest takeaways is that there’s often a gap between the tools developers use today and the skills they actually want to use in the future. Understanding that gap helps students plan smarter and stay ahead. We also clearly see that AI-related skills like machine learning, data science, and cloud computing come with higher salary potential, which makes them especially important to include in academic learning.</a:t>
            </a:r>
            <a:endParaRPr sz="10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7" name="Shape 107"/>
        <p:cNvGrpSpPr/>
        <p:nvPr/>
      </p:nvGrpSpPr>
      <p:grpSpPr>
        <a:xfrm>
          <a:off x="0" y="0"/>
          <a:ext cx="0" cy="0"/>
          <a:chOff x="0" y="0"/>
          <a:chExt cx="0" cy="0"/>
        </a:xfrm>
      </p:grpSpPr>
      <p:sp>
        <p:nvSpPr>
          <p:cNvPr id="108" name="Google Shape;108;g3aec20b4b10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9" name="Google Shape;109;g3aec20b4b10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“While our findings are meaningful, there were several challenges in building this analysis. The first was combining two very different datasets—the Stack Overflow Developer Survey and the McKinsey State of AI Survey. Another major challenge was that the McKinsey data came in the form of a PDF, not a clean dataset. We had to use Agentic AI instead of LLM models to extract and structure that information before analysis. In terms of limitations, the survey mainly represents developers who are active online, which means the results may not reflect all students or regions equally.</a:t>
            </a:r>
            <a:endParaRPr sz="10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g3aec20b4b10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5" name="Google Shape;115;g3aec20b4b10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en" sz="1000">
                <a:solidFill>
                  <a:schemeClr val="dk1"/>
                </a:solidFill>
              </a:rPr>
              <a:t>“Looking ahead, there are a few clear directions for students. First, it’s important to continuously track how technical skills evolve over time so learning stays relevant. Second, students should explore more advanced coursework in AI, machine learning, cloud, and data engineering, since these areas consistently show high demand. Finally, students need to use AI responsibly—by developing strong critical thinking skills, verifying output, and being aware of bias and ethical concerns. The biggest takeaway is that while AI creates huge opportunities for early career growth, success truly depends on how responsibly and strategically students adapt to it.”</a:t>
            </a:r>
            <a:endParaRPr sz="1000">
              <a:solidFill>
                <a:schemeClr val="dk1"/>
              </a:solidFill>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rotWithShape="1">
          <a:blip r:embed="rId2">
            <a:alphaModFix/>
          </a:blip>
          <a:srcRect b="0" l="0" r="0" t="0"/>
          <a:stretch/>
        </p:blipFill>
        <p:spPr>
          <a:xfrm>
            <a:off x="0" y="1339"/>
            <a:ext cx="9143998" cy="5140822"/>
          </a:xfrm>
          <a:prstGeom prst="rect">
            <a:avLst/>
          </a:prstGeom>
          <a:noFill/>
          <a:ln>
            <a:noFill/>
          </a:ln>
        </p:spPr>
      </p:pic>
      <p:sp>
        <p:nvSpPr>
          <p:cNvPr id="10" name="Google Shape;10;p2"/>
          <p:cNvSpPr txBox="1"/>
          <p:nvPr>
            <p:ph type="ctrTitle"/>
          </p:nvPr>
        </p:nvSpPr>
        <p:spPr>
          <a:xfrm>
            <a:off x="4139149" y="928938"/>
            <a:ext cx="4291500" cy="2961000"/>
          </a:xfrm>
          <a:prstGeom prst="rect">
            <a:avLst/>
          </a:prstGeom>
        </p:spPr>
        <p:txBody>
          <a:bodyPr anchorCtr="0" anchor="b" bIns="91425" lIns="91425" spcFirstLastPara="1" rIns="91425" wrap="square" tIns="91425">
            <a:noAutofit/>
          </a:bodyPr>
          <a:lstStyle>
            <a:lvl1pPr lvl="0">
              <a:spcBef>
                <a:spcPts val="0"/>
              </a:spcBef>
              <a:spcAft>
                <a:spcPts val="0"/>
              </a:spcAft>
              <a:buSzPts val="5200"/>
              <a:buNone/>
              <a:defRPr sz="7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4139125" y="3848863"/>
            <a:ext cx="4291500" cy="3657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800"/>
              <a:buNone/>
              <a:defRPr sz="14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2" name="Shape 12"/>
        <p:cNvGrpSpPr/>
        <p:nvPr/>
      </p:nvGrpSpPr>
      <p:grpSpPr>
        <a:xfrm>
          <a:off x="0" y="0"/>
          <a:ext cx="0" cy="0"/>
          <a:chOff x="0" y="0"/>
          <a:chExt cx="0" cy="0"/>
        </a:xfrm>
      </p:grpSpPr>
      <p:pic>
        <p:nvPicPr>
          <p:cNvPr id="13" name="Google Shape;13;p3"/>
          <p:cNvPicPr preferRelativeResize="0"/>
          <p:nvPr/>
        </p:nvPicPr>
        <p:blipFill rotWithShape="1">
          <a:blip r:embed="rId2">
            <a:alphaModFix/>
          </a:blip>
          <a:srcRect b="0" l="0" r="0" t="0"/>
          <a:stretch/>
        </p:blipFill>
        <p:spPr>
          <a:xfrm>
            <a:off x="0" y="1339"/>
            <a:ext cx="9143998" cy="5140822"/>
          </a:xfrm>
          <a:prstGeom prst="rect">
            <a:avLst/>
          </a:prstGeom>
          <a:noFill/>
          <a:ln>
            <a:noFill/>
          </a:ln>
        </p:spPr>
      </p:pic>
      <p:sp>
        <p:nvSpPr>
          <p:cNvPr id="14" name="Google Shape;14;p3"/>
          <p:cNvSpPr txBox="1"/>
          <p:nvPr>
            <p:ph type="title"/>
          </p:nvPr>
        </p:nvSpPr>
        <p:spPr>
          <a:xfrm>
            <a:off x="4634135" y="1434600"/>
            <a:ext cx="3532800" cy="22743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5" name="Shape 15"/>
        <p:cNvGrpSpPr/>
        <p:nvPr/>
      </p:nvGrpSpPr>
      <p:grpSpPr>
        <a:xfrm>
          <a:off x="0" y="0"/>
          <a:ext cx="0" cy="0"/>
          <a:chOff x="0" y="0"/>
          <a:chExt cx="0" cy="0"/>
        </a:xfrm>
      </p:grpSpPr>
      <p:pic>
        <p:nvPicPr>
          <p:cNvPr id="16" name="Google Shape;16;p4"/>
          <p:cNvPicPr preferRelativeResize="0"/>
          <p:nvPr/>
        </p:nvPicPr>
        <p:blipFill rotWithShape="1">
          <a:blip r:embed="rId2">
            <a:alphaModFix/>
          </a:blip>
          <a:srcRect b="0" l="0" r="0" t="0"/>
          <a:stretch/>
        </p:blipFill>
        <p:spPr>
          <a:xfrm>
            <a:off x="0" y="1339"/>
            <a:ext cx="9143998" cy="5140822"/>
          </a:xfrm>
          <a:prstGeom prst="rect">
            <a:avLst/>
          </a:prstGeom>
          <a:noFill/>
          <a:ln>
            <a:noFill/>
          </a:ln>
        </p:spPr>
      </p:pic>
      <p:sp>
        <p:nvSpPr>
          <p:cNvPr id="17" name="Google Shape;17;p4"/>
          <p:cNvSpPr txBox="1"/>
          <p:nvPr>
            <p:ph idx="1" type="body"/>
          </p:nvPr>
        </p:nvSpPr>
        <p:spPr>
          <a:xfrm>
            <a:off x="1115100" y="1152475"/>
            <a:ext cx="6913800" cy="3456000"/>
          </a:xfrm>
          <a:prstGeom prst="rect">
            <a:avLst/>
          </a:prstGeom>
          <a:solidFill>
            <a:schemeClr val="dk1">
              <a:alpha val="56699"/>
            </a:schemeClr>
          </a:solidFill>
        </p:spPr>
        <p:txBody>
          <a:bodyPr anchorCtr="0" anchor="t" bIns="91425" lIns="91425" spcFirstLastPara="1" rIns="91425" wrap="square" tIns="91425">
            <a:noAutofit/>
          </a:bodyPr>
          <a:lstStyle>
            <a:lvl1pPr indent="-317500" lvl="0" marL="457200">
              <a:lnSpc>
                <a:spcPct val="100000"/>
              </a:lnSpc>
              <a:spcBef>
                <a:spcPts val="0"/>
              </a:spcBef>
              <a:spcAft>
                <a:spcPts val="0"/>
              </a:spcAft>
              <a:buClr>
                <a:srgbClr val="191919"/>
              </a:buClr>
              <a:buSzPts val="1400"/>
              <a:buFont typeface="Anaheim"/>
              <a:buChar char="●"/>
              <a:defRPr sz="1400">
                <a:solidFill>
                  <a:srgbClr val="F3F3F3"/>
                </a:solidFill>
                <a:latin typeface="Fira Sans Condensed"/>
                <a:ea typeface="Fira Sans Condensed"/>
                <a:cs typeface="Fira Sans Condensed"/>
                <a:sym typeface="Fira Sans Condensed"/>
              </a:defRPr>
            </a:lvl1pPr>
            <a:lvl2pPr indent="-317500" lvl="1" marL="914400">
              <a:spcBef>
                <a:spcPts val="0"/>
              </a:spcBef>
              <a:spcAft>
                <a:spcPts val="0"/>
              </a:spcAft>
              <a:buClr>
                <a:srgbClr val="191919"/>
              </a:buClr>
              <a:buSzPts val="1400"/>
              <a:buFont typeface="Roboto Condensed Light"/>
              <a:buChar char="○"/>
              <a:defRPr sz="1400">
                <a:latin typeface="Fira Sans Condensed"/>
                <a:ea typeface="Fira Sans Condensed"/>
                <a:cs typeface="Fira Sans Condensed"/>
                <a:sym typeface="Fira Sans Condensed"/>
              </a:defRPr>
            </a:lvl2pPr>
            <a:lvl3pPr indent="-317500" lvl="2" marL="1371600">
              <a:spcBef>
                <a:spcPts val="0"/>
              </a:spcBef>
              <a:spcAft>
                <a:spcPts val="0"/>
              </a:spcAft>
              <a:buClr>
                <a:srgbClr val="191919"/>
              </a:buClr>
              <a:buSzPts val="1400"/>
              <a:buFont typeface="Roboto Condensed Light"/>
              <a:buChar char="■"/>
              <a:defRPr sz="1200"/>
            </a:lvl3pPr>
            <a:lvl4pPr indent="-317500" lvl="3" marL="1828800">
              <a:spcBef>
                <a:spcPts val="0"/>
              </a:spcBef>
              <a:spcAft>
                <a:spcPts val="0"/>
              </a:spcAft>
              <a:buClr>
                <a:srgbClr val="191919"/>
              </a:buClr>
              <a:buSzPts val="1400"/>
              <a:buFont typeface="Roboto Condensed Light"/>
              <a:buChar char="●"/>
              <a:defRPr sz="1200"/>
            </a:lvl4pPr>
            <a:lvl5pPr indent="-317500" lvl="4" marL="2286000">
              <a:spcBef>
                <a:spcPts val="0"/>
              </a:spcBef>
              <a:spcAft>
                <a:spcPts val="0"/>
              </a:spcAft>
              <a:buClr>
                <a:srgbClr val="191919"/>
              </a:buClr>
              <a:buSzPts val="1400"/>
              <a:buFont typeface="Roboto Condensed Light"/>
              <a:buChar char="○"/>
              <a:defRPr sz="1200"/>
            </a:lvl5pPr>
            <a:lvl6pPr indent="-317500" lvl="5" marL="2743200">
              <a:spcBef>
                <a:spcPts val="0"/>
              </a:spcBef>
              <a:spcAft>
                <a:spcPts val="0"/>
              </a:spcAft>
              <a:buClr>
                <a:srgbClr val="191919"/>
              </a:buClr>
              <a:buSzPts val="1400"/>
              <a:buFont typeface="Roboto Condensed Light"/>
              <a:buChar char="■"/>
              <a:defRPr sz="1200"/>
            </a:lvl6pPr>
            <a:lvl7pPr indent="-317500" lvl="6" marL="3200400">
              <a:spcBef>
                <a:spcPts val="0"/>
              </a:spcBef>
              <a:spcAft>
                <a:spcPts val="0"/>
              </a:spcAft>
              <a:buClr>
                <a:srgbClr val="191919"/>
              </a:buClr>
              <a:buSzPts val="1400"/>
              <a:buFont typeface="Roboto Condensed Light"/>
              <a:buChar char="●"/>
              <a:defRPr sz="1200"/>
            </a:lvl7pPr>
            <a:lvl8pPr indent="-317500" lvl="7" marL="3657600">
              <a:spcBef>
                <a:spcPts val="0"/>
              </a:spcBef>
              <a:spcAft>
                <a:spcPts val="0"/>
              </a:spcAft>
              <a:buClr>
                <a:srgbClr val="191919"/>
              </a:buClr>
              <a:buSzPts val="1400"/>
              <a:buFont typeface="Roboto Condensed Light"/>
              <a:buChar char="○"/>
              <a:defRPr sz="1200"/>
            </a:lvl8pPr>
            <a:lvl9pPr indent="-317500" lvl="8" marL="4114800">
              <a:spcBef>
                <a:spcPts val="0"/>
              </a:spcBef>
              <a:spcAft>
                <a:spcPts val="0"/>
              </a:spcAft>
              <a:buClr>
                <a:srgbClr val="191919"/>
              </a:buClr>
              <a:buSzPts val="1400"/>
              <a:buFont typeface="Roboto Condensed Light"/>
              <a:buChar char="■"/>
              <a:defRPr sz="1200"/>
            </a:lvl9pPr>
          </a:lstStyle>
          <a:p/>
        </p:txBody>
      </p:sp>
      <p:sp>
        <p:nvSpPr>
          <p:cNvPr id="18" name="Google Shape;18;p4"/>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1"/>
        </a:solidFill>
      </p:bgPr>
    </p:bg>
    <p:spTree>
      <p:nvGrpSpPr>
        <p:cNvPr id="19" name="Shape 19"/>
        <p:cNvGrpSpPr/>
        <p:nvPr/>
      </p:nvGrpSpPr>
      <p:grpSpPr>
        <a:xfrm>
          <a:off x="0" y="0"/>
          <a:ext cx="0" cy="0"/>
          <a:chOff x="0" y="0"/>
          <a:chExt cx="0" cy="0"/>
        </a:xfrm>
      </p:grpSpPr>
      <p:pic>
        <p:nvPicPr>
          <p:cNvPr id="20" name="Google Shape;20;p5"/>
          <p:cNvPicPr preferRelativeResize="0"/>
          <p:nvPr/>
        </p:nvPicPr>
        <p:blipFill rotWithShape="1">
          <a:blip r:embed="rId2">
            <a:alphaModFix/>
          </a:blip>
          <a:srcRect b="0" l="0" r="0" t="0"/>
          <a:stretch/>
        </p:blipFill>
        <p:spPr>
          <a:xfrm>
            <a:off x="0" y="1339"/>
            <a:ext cx="9143998" cy="5140822"/>
          </a:xfrm>
          <a:prstGeom prst="rect">
            <a:avLst/>
          </a:prstGeom>
          <a:noFill/>
          <a:ln>
            <a:noFill/>
          </a:ln>
        </p:spPr>
      </p:pic>
      <p:sp>
        <p:nvSpPr>
          <p:cNvPr id="21" name="Google Shape;21;p5"/>
          <p:cNvSpPr txBox="1"/>
          <p:nvPr>
            <p:ph idx="1" type="subTitle"/>
          </p:nvPr>
        </p:nvSpPr>
        <p:spPr>
          <a:xfrm flipH="1">
            <a:off x="5584135" y="2904500"/>
            <a:ext cx="1701300" cy="445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Rajdhani"/>
              <a:buNone/>
              <a:defRPr b="1" sz="1800">
                <a:latin typeface="Rajdhani"/>
                <a:ea typeface="Rajdhani"/>
                <a:cs typeface="Rajdhani"/>
                <a:sym typeface="Rajdhani"/>
              </a:defRPr>
            </a:lvl1pPr>
            <a:lvl2pPr lvl="1" rtl="0" algn="ctr">
              <a:lnSpc>
                <a:spcPct val="100000"/>
              </a:lnSpc>
              <a:spcBef>
                <a:spcPts val="0"/>
              </a:spcBef>
              <a:spcAft>
                <a:spcPts val="0"/>
              </a:spcAft>
              <a:buSzPts val="1400"/>
              <a:buFont typeface="Rajdhani"/>
              <a:buNone/>
              <a:defRPr b="1" sz="1400">
                <a:latin typeface="Rajdhani"/>
                <a:ea typeface="Rajdhani"/>
                <a:cs typeface="Rajdhani"/>
                <a:sym typeface="Rajdhani"/>
              </a:defRPr>
            </a:lvl2pPr>
            <a:lvl3pPr lvl="2" rtl="0" algn="ctr">
              <a:lnSpc>
                <a:spcPct val="100000"/>
              </a:lnSpc>
              <a:spcBef>
                <a:spcPts val="0"/>
              </a:spcBef>
              <a:spcAft>
                <a:spcPts val="0"/>
              </a:spcAft>
              <a:buSzPts val="1400"/>
              <a:buFont typeface="Rajdhani"/>
              <a:buNone/>
              <a:defRPr b="1" sz="1400">
                <a:latin typeface="Rajdhani"/>
                <a:ea typeface="Rajdhani"/>
                <a:cs typeface="Rajdhani"/>
                <a:sym typeface="Rajdhani"/>
              </a:defRPr>
            </a:lvl3pPr>
            <a:lvl4pPr lvl="3" rtl="0" algn="ctr">
              <a:lnSpc>
                <a:spcPct val="100000"/>
              </a:lnSpc>
              <a:spcBef>
                <a:spcPts val="0"/>
              </a:spcBef>
              <a:spcAft>
                <a:spcPts val="0"/>
              </a:spcAft>
              <a:buSzPts val="1400"/>
              <a:buFont typeface="Rajdhani"/>
              <a:buNone/>
              <a:defRPr b="1" sz="1400">
                <a:latin typeface="Rajdhani"/>
                <a:ea typeface="Rajdhani"/>
                <a:cs typeface="Rajdhani"/>
                <a:sym typeface="Rajdhani"/>
              </a:defRPr>
            </a:lvl4pPr>
            <a:lvl5pPr lvl="4" rtl="0" algn="ctr">
              <a:lnSpc>
                <a:spcPct val="100000"/>
              </a:lnSpc>
              <a:spcBef>
                <a:spcPts val="0"/>
              </a:spcBef>
              <a:spcAft>
                <a:spcPts val="0"/>
              </a:spcAft>
              <a:buSzPts val="1400"/>
              <a:buFont typeface="Rajdhani"/>
              <a:buNone/>
              <a:defRPr b="1" sz="1400">
                <a:latin typeface="Rajdhani"/>
                <a:ea typeface="Rajdhani"/>
                <a:cs typeface="Rajdhani"/>
                <a:sym typeface="Rajdhani"/>
              </a:defRPr>
            </a:lvl5pPr>
            <a:lvl6pPr lvl="5" rtl="0" algn="ctr">
              <a:lnSpc>
                <a:spcPct val="100000"/>
              </a:lnSpc>
              <a:spcBef>
                <a:spcPts val="0"/>
              </a:spcBef>
              <a:spcAft>
                <a:spcPts val="0"/>
              </a:spcAft>
              <a:buSzPts val="1400"/>
              <a:buFont typeface="Rajdhani"/>
              <a:buNone/>
              <a:defRPr b="1" sz="1400">
                <a:latin typeface="Rajdhani"/>
                <a:ea typeface="Rajdhani"/>
                <a:cs typeface="Rajdhani"/>
                <a:sym typeface="Rajdhani"/>
              </a:defRPr>
            </a:lvl6pPr>
            <a:lvl7pPr lvl="6" rtl="0" algn="ctr">
              <a:lnSpc>
                <a:spcPct val="100000"/>
              </a:lnSpc>
              <a:spcBef>
                <a:spcPts val="0"/>
              </a:spcBef>
              <a:spcAft>
                <a:spcPts val="0"/>
              </a:spcAft>
              <a:buSzPts val="1400"/>
              <a:buFont typeface="Rajdhani"/>
              <a:buNone/>
              <a:defRPr b="1" sz="1400">
                <a:latin typeface="Rajdhani"/>
                <a:ea typeface="Rajdhani"/>
                <a:cs typeface="Rajdhani"/>
                <a:sym typeface="Rajdhani"/>
              </a:defRPr>
            </a:lvl7pPr>
            <a:lvl8pPr lvl="7" rtl="0" algn="ctr">
              <a:lnSpc>
                <a:spcPct val="100000"/>
              </a:lnSpc>
              <a:spcBef>
                <a:spcPts val="0"/>
              </a:spcBef>
              <a:spcAft>
                <a:spcPts val="0"/>
              </a:spcAft>
              <a:buSzPts val="1400"/>
              <a:buFont typeface="Rajdhani"/>
              <a:buNone/>
              <a:defRPr b="1" sz="1400">
                <a:latin typeface="Rajdhani"/>
                <a:ea typeface="Rajdhani"/>
                <a:cs typeface="Rajdhani"/>
                <a:sym typeface="Rajdhani"/>
              </a:defRPr>
            </a:lvl8pPr>
            <a:lvl9pPr lvl="8" rtl="0" algn="ctr">
              <a:lnSpc>
                <a:spcPct val="100000"/>
              </a:lnSpc>
              <a:spcBef>
                <a:spcPts val="0"/>
              </a:spcBef>
              <a:spcAft>
                <a:spcPts val="0"/>
              </a:spcAft>
              <a:buSzPts val="1400"/>
              <a:buFont typeface="Rajdhani"/>
              <a:buNone/>
              <a:defRPr b="1" sz="1400">
                <a:latin typeface="Rajdhani"/>
                <a:ea typeface="Rajdhani"/>
                <a:cs typeface="Rajdhani"/>
                <a:sym typeface="Rajdhani"/>
              </a:defRPr>
            </a:lvl9pPr>
          </a:lstStyle>
          <a:p/>
        </p:txBody>
      </p:sp>
      <p:sp>
        <p:nvSpPr>
          <p:cNvPr id="22" name="Google Shape;22;p5"/>
          <p:cNvSpPr txBox="1"/>
          <p:nvPr>
            <p:ph idx="2" type="subTitle"/>
          </p:nvPr>
        </p:nvSpPr>
        <p:spPr>
          <a:xfrm flipH="1">
            <a:off x="5079300" y="3229525"/>
            <a:ext cx="2711100" cy="739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Font typeface="Fira Sans Condensed"/>
              <a:buNone/>
              <a:defRPr sz="1400">
                <a:latin typeface="Fira Sans Condensed"/>
                <a:ea typeface="Fira Sans Condensed"/>
                <a:cs typeface="Fira Sans Condensed"/>
                <a:sym typeface="Fira Sans Condensed"/>
              </a:defRPr>
            </a:lvl1pPr>
            <a:lvl2pPr lvl="1"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2pPr>
            <a:lvl3pPr lvl="2"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3pPr>
            <a:lvl4pPr lvl="3"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4pPr>
            <a:lvl5pPr lvl="4"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5pPr>
            <a:lvl6pPr lvl="5"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6pPr>
            <a:lvl7pPr lvl="6"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7pPr>
            <a:lvl8pPr lvl="7"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8pPr>
            <a:lvl9pPr lvl="8"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9pPr>
          </a:lstStyle>
          <a:p/>
        </p:txBody>
      </p:sp>
      <p:sp>
        <p:nvSpPr>
          <p:cNvPr id="23" name="Google Shape;23;p5"/>
          <p:cNvSpPr txBox="1"/>
          <p:nvPr>
            <p:ph idx="3" type="subTitle"/>
          </p:nvPr>
        </p:nvSpPr>
        <p:spPr>
          <a:xfrm flipH="1">
            <a:off x="1858635" y="2904500"/>
            <a:ext cx="1701300" cy="445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1400"/>
              <a:buFont typeface="Rajdhani"/>
              <a:buNone/>
              <a:defRPr b="1" sz="1800">
                <a:latin typeface="Rajdhani"/>
                <a:ea typeface="Rajdhani"/>
                <a:cs typeface="Rajdhani"/>
                <a:sym typeface="Rajdhani"/>
              </a:defRPr>
            </a:lvl1pPr>
            <a:lvl2pPr lvl="1" rtl="0" algn="ctr">
              <a:lnSpc>
                <a:spcPct val="100000"/>
              </a:lnSpc>
              <a:spcBef>
                <a:spcPts val="0"/>
              </a:spcBef>
              <a:spcAft>
                <a:spcPts val="0"/>
              </a:spcAft>
              <a:buSzPts val="1400"/>
              <a:buFont typeface="Rajdhani"/>
              <a:buNone/>
              <a:defRPr b="1" sz="1400">
                <a:latin typeface="Rajdhani"/>
                <a:ea typeface="Rajdhani"/>
                <a:cs typeface="Rajdhani"/>
                <a:sym typeface="Rajdhani"/>
              </a:defRPr>
            </a:lvl2pPr>
            <a:lvl3pPr lvl="2" rtl="0" algn="ctr">
              <a:lnSpc>
                <a:spcPct val="100000"/>
              </a:lnSpc>
              <a:spcBef>
                <a:spcPts val="0"/>
              </a:spcBef>
              <a:spcAft>
                <a:spcPts val="0"/>
              </a:spcAft>
              <a:buSzPts val="1400"/>
              <a:buFont typeface="Rajdhani"/>
              <a:buNone/>
              <a:defRPr b="1" sz="1400">
                <a:latin typeface="Rajdhani"/>
                <a:ea typeface="Rajdhani"/>
                <a:cs typeface="Rajdhani"/>
                <a:sym typeface="Rajdhani"/>
              </a:defRPr>
            </a:lvl3pPr>
            <a:lvl4pPr lvl="3" rtl="0" algn="ctr">
              <a:lnSpc>
                <a:spcPct val="100000"/>
              </a:lnSpc>
              <a:spcBef>
                <a:spcPts val="0"/>
              </a:spcBef>
              <a:spcAft>
                <a:spcPts val="0"/>
              </a:spcAft>
              <a:buSzPts val="1400"/>
              <a:buFont typeface="Rajdhani"/>
              <a:buNone/>
              <a:defRPr b="1" sz="1400">
                <a:latin typeface="Rajdhani"/>
                <a:ea typeface="Rajdhani"/>
                <a:cs typeface="Rajdhani"/>
                <a:sym typeface="Rajdhani"/>
              </a:defRPr>
            </a:lvl4pPr>
            <a:lvl5pPr lvl="4" rtl="0" algn="ctr">
              <a:lnSpc>
                <a:spcPct val="100000"/>
              </a:lnSpc>
              <a:spcBef>
                <a:spcPts val="0"/>
              </a:spcBef>
              <a:spcAft>
                <a:spcPts val="0"/>
              </a:spcAft>
              <a:buSzPts val="1400"/>
              <a:buFont typeface="Rajdhani"/>
              <a:buNone/>
              <a:defRPr b="1" sz="1400">
                <a:latin typeface="Rajdhani"/>
                <a:ea typeface="Rajdhani"/>
                <a:cs typeface="Rajdhani"/>
                <a:sym typeface="Rajdhani"/>
              </a:defRPr>
            </a:lvl5pPr>
            <a:lvl6pPr lvl="5" rtl="0" algn="ctr">
              <a:lnSpc>
                <a:spcPct val="100000"/>
              </a:lnSpc>
              <a:spcBef>
                <a:spcPts val="0"/>
              </a:spcBef>
              <a:spcAft>
                <a:spcPts val="0"/>
              </a:spcAft>
              <a:buSzPts val="1400"/>
              <a:buFont typeface="Rajdhani"/>
              <a:buNone/>
              <a:defRPr b="1" sz="1400">
                <a:latin typeface="Rajdhani"/>
                <a:ea typeface="Rajdhani"/>
                <a:cs typeface="Rajdhani"/>
                <a:sym typeface="Rajdhani"/>
              </a:defRPr>
            </a:lvl6pPr>
            <a:lvl7pPr lvl="6" rtl="0" algn="ctr">
              <a:lnSpc>
                <a:spcPct val="100000"/>
              </a:lnSpc>
              <a:spcBef>
                <a:spcPts val="0"/>
              </a:spcBef>
              <a:spcAft>
                <a:spcPts val="0"/>
              </a:spcAft>
              <a:buSzPts val="1400"/>
              <a:buFont typeface="Rajdhani"/>
              <a:buNone/>
              <a:defRPr b="1" sz="1400">
                <a:latin typeface="Rajdhani"/>
                <a:ea typeface="Rajdhani"/>
                <a:cs typeface="Rajdhani"/>
                <a:sym typeface="Rajdhani"/>
              </a:defRPr>
            </a:lvl7pPr>
            <a:lvl8pPr lvl="7" rtl="0" algn="ctr">
              <a:lnSpc>
                <a:spcPct val="100000"/>
              </a:lnSpc>
              <a:spcBef>
                <a:spcPts val="0"/>
              </a:spcBef>
              <a:spcAft>
                <a:spcPts val="0"/>
              </a:spcAft>
              <a:buSzPts val="1400"/>
              <a:buFont typeface="Rajdhani"/>
              <a:buNone/>
              <a:defRPr b="1" sz="1400">
                <a:latin typeface="Rajdhani"/>
                <a:ea typeface="Rajdhani"/>
                <a:cs typeface="Rajdhani"/>
                <a:sym typeface="Rajdhani"/>
              </a:defRPr>
            </a:lvl8pPr>
            <a:lvl9pPr lvl="8" rtl="0" algn="ctr">
              <a:lnSpc>
                <a:spcPct val="100000"/>
              </a:lnSpc>
              <a:spcBef>
                <a:spcPts val="0"/>
              </a:spcBef>
              <a:spcAft>
                <a:spcPts val="0"/>
              </a:spcAft>
              <a:buSzPts val="1400"/>
              <a:buFont typeface="Rajdhani"/>
              <a:buNone/>
              <a:defRPr b="1" sz="1400">
                <a:latin typeface="Rajdhani"/>
                <a:ea typeface="Rajdhani"/>
                <a:cs typeface="Rajdhani"/>
                <a:sym typeface="Rajdhani"/>
              </a:defRPr>
            </a:lvl9pPr>
          </a:lstStyle>
          <a:p/>
        </p:txBody>
      </p:sp>
      <p:sp>
        <p:nvSpPr>
          <p:cNvPr id="24" name="Google Shape;24;p5"/>
          <p:cNvSpPr txBox="1"/>
          <p:nvPr>
            <p:ph idx="4" type="subTitle"/>
          </p:nvPr>
        </p:nvSpPr>
        <p:spPr>
          <a:xfrm flipH="1">
            <a:off x="1353800" y="3229525"/>
            <a:ext cx="2711100" cy="7392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100"/>
              <a:buFont typeface="Fira Sans Condensed"/>
              <a:buNone/>
              <a:defRPr sz="1400">
                <a:latin typeface="Fira Sans Condensed"/>
                <a:ea typeface="Fira Sans Condensed"/>
                <a:cs typeface="Fira Sans Condensed"/>
                <a:sym typeface="Fira Sans Condensed"/>
              </a:defRPr>
            </a:lvl1pPr>
            <a:lvl2pPr lvl="1"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2pPr>
            <a:lvl3pPr lvl="2"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3pPr>
            <a:lvl4pPr lvl="3"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4pPr>
            <a:lvl5pPr lvl="4"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5pPr>
            <a:lvl6pPr lvl="5"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6pPr>
            <a:lvl7pPr lvl="6"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7pPr>
            <a:lvl8pPr lvl="7"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8pPr>
            <a:lvl9pPr lvl="8" rtl="0" algn="ctr">
              <a:lnSpc>
                <a:spcPct val="100000"/>
              </a:lnSpc>
              <a:spcBef>
                <a:spcPts val="0"/>
              </a:spcBef>
              <a:spcAft>
                <a:spcPts val="0"/>
              </a:spcAft>
              <a:buSzPts val="1100"/>
              <a:buFont typeface="Fira Sans Condensed"/>
              <a:buNone/>
              <a:defRPr sz="1100">
                <a:latin typeface="Fira Sans Condensed"/>
                <a:ea typeface="Fira Sans Condensed"/>
                <a:cs typeface="Fira Sans Condensed"/>
                <a:sym typeface="Fira Sans Condensed"/>
              </a:defRPr>
            </a:lvl9pPr>
          </a:lstStyle>
          <a:p/>
        </p:txBody>
      </p:sp>
      <p:sp>
        <p:nvSpPr>
          <p:cNvPr id="25" name="Google Shape;25;p5"/>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 name="Shape 26"/>
        <p:cNvGrpSpPr/>
        <p:nvPr/>
      </p:nvGrpSpPr>
      <p:grpSpPr>
        <a:xfrm>
          <a:off x="0" y="0"/>
          <a:ext cx="0" cy="0"/>
          <a:chOff x="0" y="0"/>
          <a:chExt cx="0" cy="0"/>
        </a:xfrm>
      </p:grpSpPr>
      <p:pic>
        <p:nvPicPr>
          <p:cNvPr id="27" name="Google Shape;27;p6"/>
          <p:cNvPicPr preferRelativeResize="0"/>
          <p:nvPr/>
        </p:nvPicPr>
        <p:blipFill rotWithShape="1">
          <a:blip r:embed="rId2">
            <a:alphaModFix/>
          </a:blip>
          <a:srcRect b="0" l="0" r="0" t="0"/>
          <a:stretch/>
        </p:blipFill>
        <p:spPr>
          <a:xfrm>
            <a:off x="0" y="1339"/>
            <a:ext cx="9143998" cy="5140822"/>
          </a:xfrm>
          <a:prstGeom prst="rect">
            <a:avLst/>
          </a:prstGeom>
          <a:noFill/>
          <a:ln>
            <a:noFill/>
          </a:ln>
        </p:spPr>
      </p:pic>
      <p:sp>
        <p:nvSpPr>
          <p:cNvPr id="28" name="Google Shape;28;p6"/>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sz="30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dk1"/>
        </a:solidFill>
      </p:bgPr>
    </p:bg>
    <p:spTree>
      <p:nvGrpSpPr>
        <p:cNvPr id="29" name="Shape 29"/>
        <p:cNvGrpSpPr/>
        <p:nvPr/>
      </p:nvGrpSpPr>
      <p:grpSpPr>
        <a:xfrm>
          <a:off x="0" y="0"/>
          <a:ext cx="0" cy="0"/>
          <a:chOff x="0" y="0"/>
          <a:chExt cx="0" cy="0"/>
        </a:xfrm>
      </p:grpSpPr>
      <p:pic>
        <p:nvPicPr>
          <p:cNvPr id="30" name="Google Shape;30;p7"/>
          <p:cNvPicPr preferRelativeResize="0"/>
          <p:nvPr/>
        </p:nvPicPr>
        <p:blipFill rotWithShape="1">
          <a:blip r:embed="rId2">
            <a:alphaModFix/>
          </a:blip>
          <a:srcRect b="0" l="0" r="0" t="0"/>
          <a:stretch/>
        </p:blipFill>
        <p:spPr>
          <a:xfrm>
            <a:off x="0" y="1339"/>
            <a:ext cx="9143998" cy="5140822"/>
          </a:xfrm>
          <a:prstGeom prst="rect">
            <a:avLst/>
          </a:prstGeom>
          <a:noFill/>
          <a:ln>
            <a:noFill/>
          </a:ln>
        </p:spPr>
      </p:pic>
      <p:sp>
        <p:nvSpPr>
          <p:cNvPr id="31" name="Google Shape;31;p7"/>
          <p:cNvSpPr txBox="1"/>
          <p:nvPr>
            <p:ph idx="1" type="subTitle"/>
          </p:nvPr>
        </p:nvSpPr>
        <p:spPr>
          <a:xfrm>
            <a:off x="2487163" y="1434600"/>
            <a:ext cx="3367800" cy="2274300"/>
          </a:xfrm>
          <a:prstGeom prst="rect">
            <a:avLst/>
          </a:prstGeom>
        </p:spPr>
        <p:txBody>
          <a:bodyPr anchorCtr="0" anchor="ctr" bIns="91425" lIns="91425" spcFirstLastPara="1" rIns="91425" wrap="square" tIns="91425">
            <a:noAutofit/>
          </a:bodyPr>
          <a:lstStyle>
            <a:lvl1pPr lvl="0" rtl="0" algn="r">
              <a:lnSpc>
                <a:spcPct val="100000"/>
              </a:lnSpc>
              <a:spcBef>
                <a:spcPts val="0"/>
              </a:spcBef>
              <a:spcAft>
                <a:spcPts val="0"/>
              </a:spcAft>
              <a:buSzPts val="2800"/>
              <a:buFont typeface="Fira Sans Condensed"/>
              <a:buNone/>
              <a:defRPr sz="1400">
                <a:latin typeface="Fira Sans Condensed"/>
                <a:ea typeface="Fira Sans Condensed"/>
                <a:cs typeface="Fira Sans Condensed"/>
                <a:sym typeface="Fira Sans Condensed"/>
              </a:defRPr>
            </a:lvl1pPr>
            <a:lvl2pPr lvl="1" rtl="0" algn="ctr">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2pPr>
            <a:lvl3pPr lvl="2" rtl="0" algn="ctr">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3pPr>
            <a:lvl4pPr lvl="3" rtl="0" algn="ctr">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4pPr>
            <a:lvl5pPr lvl="4" rtl="0" algn="ctr">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5pPr>
            <a:lvl6pPr lvl="5" rtl="0" algn="ctr">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6pPr>
            <a:lvl7pPr lvl="6" rtl="0" algn="ctr">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7pPr>
            <a:lvl8pPr lvl="7" rtl="0" algn="ctr">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8pPr>
            <a:lvl9pPr lvl="8" rtl="0" algn="ctr">
              <a:lnSpc>
                <a:spcPct val="100000"/>
              </a:lnSpc>
              <a:spcBef>
                <a:spcPts val="0"/>
              </a:spcBef>
              <a:spcAft>
                <a:spcPts val="0"/>
              </a:spcAft>
              <a:buSzPts val="2800"/>
              <a:buFont typeface="Fira Sans Condensed"/>
              <a:buNone/>
              <a:defRPr sz="2800">
                <a:latin typeface="Fira Sans Condensed"/>
                <a:ea typeface="Fira Sans Condensed"/>
                <a:cs typeface="Fira Sans Condensed"/>
                <a:sym typeface="Fira Sans Condensed"/>
              </a:defRPr>
            </a:lvl9pPr>
          </a:lstStyle>
          <a:p/>
        </p:txBody>
      </p:sp>
      <p:sp>
        <p:nvSpPr>
          <p:cNvPr id="32" name="Google Shape;32;p7"/>
          <p:cNvSpPr txBox="1"/>
          <p:nvPr>
            <p:ph type="title"/>
          </p:nvPr>
        </p:nvSpPr>
        <p:spPr>
          <a:xfrm>
            <a:off x="6530228" y="1434600"/>
            <a:ext cx="1967100" cy="2274300"/>
          </a:xfrm>
          <a:prstGeom prst="rect">
            <a:avLst/>
          </a:prstGeom>
        </p:spPr>
        <p:txBody>
          <a:bodyPr anchorCtr="0" anchor="ctr" bIns="91425" lIns="91425" spcFirstLastPara="1" rIns="91425" wrap="square" tIns="91425">
            <a:noAutofit/>
          </a:bodyPr>
          <a:lstStyle>
            <a:lvl1pPr lvl="0" rtl="0">
              <a:spcBef>
                <a:spcPts val="0"/>
              </a:spcBef>
              <a:spcAft>
                <a:spcPts val="0"/>
              </a:spcAft>
              <a:buSzPts val="1400"/>
              <a:buNone/>
              <a:defRPr sz="4800"/>
            </a:lvl1pPr>
            <a:lvl2pPr lvl="1" rtl="0">
              <a:spcBef>
                <a:spcPts val="0"/>
              </a:spcBef>
              <a:spcAft>
                <a:spcPts val="0"/>
              </a:spcAft>
              <a:buSzPts val="1400"/>
              <a:buNone/>
              <a:defRPr sz="1400"/>
            </a:lvl2pPr>
            <a:lvl3pPr lvl="2" rtl="0">
              <a:spcBef>
                <a:spcPts val="0"/>
              </a:spcBef>
              <a:spcAft>
                <a:spcPts val="0"/>
              </a:spcAft>
              <a:buSzPts val="1400"/>
              <a:buNone/>
              <a:defRPr sz="1400"/>
            </a:lvl3pPr>
            <a:lvl4pPr lvl="3" rtl="0">
              <a:spcBef>
                <a:spcPts val="0"/>
              </a:spcBef>
              <a:spcAft>
                <a:spcPts val="0"/>
              </a:spcAft>
              <a:buSzPts val="1400"/>
              <a:buNone/>
              <a:defRPr sz="1400"/>
            </a:lvl4pPr>
            <a:lvl5pPr lvl="4" rtl="0">
              <a:spcBef>
                <a:spcPts val="0"/>
              </a:spcBef>
              <a:spcAft>
                <a:spcPts val="0"/>
              </a:spcAft>
              <a:buSzPts val="1400"/>
              <a:buNone/>
              <a:defRPr sz="1400"/>
            </a:lvl5pPr>
            <a:lvl6pPr lvl="5" rtl="0">
              <a:spcBef>
                <a:spcPts val="0"/>
              </a:spcBef>
              <a:spcAft>
                <a:spcPts val="0"/>
              </a:spcAft>
              <a:buSzPts val="1400"/>
              <a:buNone/>
              <a:defRPr sz="1400"/>
            </a:lvl6pPr>
            <a:lvl7pPr lvl="6" rtl="0">
              <a:spcBef>
                <a:spcPts val="0"/>
              </a:spcBef>
              <a:spcAft>
                <a:spcPts val="0"/>
              </a:spcAft>
              <a:buSzPts val="1400"/>
              <a:buNone/>
              <a:defRPr sz="1400"/>
            </a:lvl7pPr>
            <a:lvl8pPr lvl="7" rtl="0">
              <a:spcBef>
                <a:spcPts val="0"/>
              </a:spcBef>
              <a:spcAft>
                <a:spcPts val="0"/>
              </a:spcAft>
              <a:buSzPts val="1400"/>
              <a:buNone/>
              <a:defRPr sz="1400"/>
            </a:lvl8pPr>
            <a:lvl9pPr lvl="8" rtl="0">
              <a:spcBef>
                <a:spcPts val="0"/>
              </a:spcBef>
              <a:spcAft>
                <a:spcPts val="0"/>
              </a:spcAft>
              <a:buSzPts val="1400"/>
              <a:buNone/>
              <a:defRPr sz="14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dk1"/>
        </a:solidFill>
      </p:bgPr>
    </p:bg>
    <p:spTree>
      <p:nvGrpSpPr>
        <p:cNvPr id="33" name="Shape 33"/>
        <p:cNvGrpSpPr/>
        <p:nvPr/>
      </p:nvGrpSpPr>
      <p:grpSpPr>
        <a:xfrm>
          <a:off x="0" y="0"/>
          <a:ext cx="0" cy="0"/>
          <a:chOff x="0" y="0"/>
          <a:chExt cx="0" cy="0"/>
        </a:xfrm>
      </p:grpSpPr>
      <p:pic>
        <p:nvPicPr>
          <p:cNvPr id="34" name="Google Shape;34;p8"/>
          <p:cNvPicPr preferRelativeResize="0"/>
          <p:nvPr/>
        </p:nvPicPr>
        <p:blipFill rotWithShape="1">
          <a:blip r:embed="rId2">
            <a:alphaModFix/>
          </a:blip>
          <a:srcRect b="0" l="0" r="0" t="0"/>
          <a:stretch/>
        </p:blipFill>
        <p:spPr>
          <a:xfrm>
            <a:off x="0" y="1339"/>
            <a:ext cx="9143998" cy="5140822"/>
          </a:xfrm>
          <a:prstGeom prst="rect">
            <a:avLst/>
          </a:prstGeom>
          <a:noFill/>
          <a:ln>
            <a:noFill/>
          </a:ln>
        </p:spPr>
      </p:pic>
      <p:sp>
        <p:nvSpPr>
          <p:cNvPr id="35" name="Google Shape;35;p8"/>
          <p:cNvSpPr txBox="1"/>
          <p:nvPr>
            <p:ph type="title"/>
          </p:nvPr>
        </p:nvSpPr>
        <p:spPr>
          <a:xfrm>
            <a:off x="2422250" y="1418700"/>
            <a:ext cx="4299600" cy="2306100"/>
          </a:xfrm>
          <a:prstGeom prst="rect">
            <a:avLst/>
          </a:prstGeom>
        </p:spPr>
        <p:txBody>
          <a:bodyPr anchorCtr="0" anchor="ctr" bIns="91425" lIns="91425" spcFirstLastPara="1" rIns="91425" wrap="square" tIns="91425">
            <a:noAutofit/>
          </a:bodyPr>
          <a:lstStyle>
            <a:lvl1pPr lvl="0" algn="ctr">
              <a:spcBef>
                <a:spcPts val="0"/>
              </a:spcBef>
              <a:spcAft>
                <a:spcPts val="0"/>
              </a:spcAft>
              <a:buSzPts val="4800"/>
              <a:buNone/>
              <a:defRPr sz="72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1"/>
        </a:solidFill>
      </p:bgPr>
    </p:bg>
    <p:spTree>
      <p:nvGrpSpPr>
        <p:cNvPr id="36" name="Shape 36"/>
        <p:cNvGrpSpPr/>
        <p:nvPr/>
      </p:nvGrpSpPr>
      <p:grpSpPr>
        <a:xfrm>
          <a:off x="0" y="0"/>
          <a:ext cx="0" cy="0"/>
          <a:chOff x="0" y="0"/>
          <a:chExt cx="0" cy="0"/>
        </a:xfrm>
      </p:grpSpPr>
      <p:pic>
        <p:nvPicPr>
          <p:cNvPr id="37" name="Google Shape;37;p9"/>
          <p:cNvPicPr preferRelativeResize="0"/>
          <p:nvPr/>
        </p:nvPicPr>
        <p:blipFill rotWithShape="1">
          <a:blip r:embed="rId2">
            <a:alphaModFix/>
          </a:blip>
          <a:srcRect b="0" l="0" r="0" t="0"/>
          <a:stretch/>
        </p:blipFill>
        <p:spPr>
          <a:xfrm>
            <a:off x="0" y="1339"/>
            <a:ext cx="9143998" cy="5140822"/>
          </a:xfrm>
          <a:prstGeom prst="rect">
            <a:avLst/>
          </a:prstGeom>
          <a:noFill/>
          <a:ln>
            <a:noFill/>
          </a:ln>
        </p:spPr>
      </p:pic>
      <p:sp>
        <p:nvSpPr>
          <p:cNvPr id="38" name="Google Shape;38;p9"/>
          <p:cNvSpPr txBox="1"/>
          <p:nvPr>
            <p:ph type="title"/>
          </p:nvPr>
        </p:nvSpPr>
        <p:spPr>
          <a:xfrm>
            <a:off x="522825" y="971850"/>
            <a:ext cx="3787800" cy="3199800"/>
          </a:xfrm>
          <a:prstGeom prst="rect">
            <a:avLst/>
          </a:prstGeom>
        </p:spPr>
        <p:txBody>
          <a:bodyPr anchorCtr="0" anchor="ctr" bIns="91425" lIns="91425" spcFirstLastPara="1" rIns="91425" wrap="square" tIns="91425">
            <a:noAutofit/>
          </a:bodyPr>
          <a:lstStyle>
            <a:lvl1pPr lvl="0" algn="r">
              <a:spcBef>
                <a:spcPts val="0"/>
              </a:spcBef>
              <a:spcAft>
                <a:spcPts val="0"/>
              </a:spcAft>
              <a:buSzPts val="4200"/>
              <a:buNone/>
              <a:defRPr sz="60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9" name="Google Shape;39;p9"/>
          <p:cNvSpPr txBox="1"/>
          <p:nvPr>
            <p:ph idx="1" type="subTitle"/>
          </p:nvPr>
        </p:nvSpPr>
        <p:spPr>
          <a:xfrm>
            <a:off x="4799950" y="1954200"/>
            <a:ext cx="1940100" cy="1235100"/>
          </a:xfrm>
          <a:prstGeom prst="rect">
            <a:avLst/>
          </a:prstGeom>
        </p:spPr>
        <p:txBody>
          <a:bodyPr anchorCtr="0" anchor="t" bIns="91425" lIns="91425" spcFirstLastPara="1" rIns="91425" wrap="square" tIns="91425">
            <a:noAutofit/>
          </a:bodyPr>
          <a:lstStyle>
            <a:lvl1pPr lvl="0">
              <a:lnSpc>
                <a:spcPct val="100000"/>
              </a:lnSpc>
              <a:spcBef>
                <a:spcPts val="0"/>
              </a:spcBef>
              <a:spcAft>
                <a:spcPts val="0"/>
              </a:spcAft>
              <a:buSzPts val="2100"/>
              <a:buNone/>
              <a:defRPr sz="14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0" name="Google Shape;40;p9"/>
          <p:cNvSpPr txBox="1"/>
          <p:nvPr>
            <p:ph hasCustomPrompt="1" idx="2" type="title"/>
          </p:nvPr>
        </p:nvSpPr>
        <p:spPr>
          <a:xfrm>
            <a:off x="4849170" y="1001125"/>
            <a:ext cx="2026800" cy="1814700"/>
          </a:xfrm>
          <a:prstGeom prst="rect">
            <a:avLst/>
          </a:prstGeom>
        </p:spPr>
        <p:txBody>
          <a:bodyPr anchorCtr="0" anchor="t" bIns="91425" lIns="91425" spcFirstLastPara="1" rIns="91425" wrap="square" tIns="91425">
            <a:noAutofit/>
          </a:bodyPr>
          <a:lstStyle>
            <a:lvl1pPr lvl="0" rtl="0">
              <a:spcBef>
                <a:spcPts val="0"/>
              </a:spcBef>
              <a:spcAft>
                <a:spcPts val="0"/>
              </a:spcAft>
              <a:buSzPts val="12000"/>
              <a:buNone/>
              <a:defRPr sz="14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dk1"/>
        </a:solidFill>
      </p:bgPr>
    </p:bg>
    <p:spTree>
      <p:nvGrpSpPr>
        <p:cNvPr id="41" name="Shape 41"/>
        <p:cNvGrpSpPr/>
        <p:nvPr/>
      </p:nvGrpSpPr>
      <p:grpSpPr>
        <a:xfrm>
          <a:off x="0" y="0"/>
          <a:ext cx="0" cy="0"/>
          <a:chOff x="0" y="0"/>
          <a:chExt cx="0" cy="0"/>
        </a:xfrm>
      </p:grpSpPr>
      <p:pic>
        <p:nvPicPr>
          <p:cNvPr id="42" name="Google Shape;42;p10"/>
          <p:cNvPicPr preferRelativeResize="0"/>
          <p:nvPr/>
        </p:nvPicPr>
        <p:blipFill rotWithShape="1">
          <a:blip r:embed="rId2">
            <a:alphaModFix/>
          </a:blip>
          <a:srcRect b="0" l="0" r="0" t="0"/>
          <a:stretch/>
        </p:blipFill>
        <p:spPr>
          <a:xfrm>
            <a:off x="0" y="1339"/>
            <a:ext cx="9143998" cy="5140822"/>
          </a:xfrm>
          <a:prstGeom prst="rect">
            <a:avLst/>
          </a:prstGeom>
          <a:noFill/>
          <a:ln>
            <a:noFill/>
          </a:ln>
        </p:spPr>
      </p:pic>
      <p:sp>
        <p:nvSpPr>
          <p:cNvPr id="43" name="Google Shape;43;p10"/>
          <p:cNvSpPr txBox="1"/>
          <p:nvPr>
            <p:ph type="title"/>
          </p:nvPr>
        </p:nvSpPr>
        <p:spPr>
          <a:xfrm>
            <a:off x="720100" y="1706850"/>
            <a:ext cx="2759700" cy="1729800"/>
          </a:xfrm>
          <a:prstGeom prst="rect">
            <a:avLst/>
          </a:prstGeom>
        </p:spPr>
        <p:txBody>
          <a:bodyPr anchorCtr="0" anchor="t" bIns="91425" lIns="91425" spcFirstLastPara="1" rIns="91425" wrap="square" tIns="91425">
            <a:noAutofit/>
          </a:bodyPr>
          <a:lstStyle>
            <a:lvl1pPr lvl="0" rtl="0" algn="r">
              <a:spcBef>
                <a:spcPts val="0"/>
              </a:spcBef>
              <a:spcAft>
                <a:spcPts val="0"/>
              </a:spcAft>
              <a:buSzPts val="1800"/>
              <a:buNone/>
              <a:defRPr sz="4500"/>
            </a:lvl1pPr>
            <a:lvl2pPr lvl="1" rtl="0" algn="ctr">
              <a:spcBef>
                <a:spcPts val="0"/>
              </a:spcBef>
              <a:spcAft>
                <a:spcPts val="0"/>
              </a:spcAft>
              <a:buSzPts val="1800"/>
              <a:buNone/>
              <a:defRPr sz="1800"/>
            </a:lvl2pPr>
            <a:lvl3pPr lvl="2" rtl="0" algn="ctr">
              <a:spcBef>
                <a:spcPts val="0"/>
              </a:spcBef>
              <a:spcAft>
                <a:spcPts val="0"/>
              </a:spcAft>
              <a:buSzPts val="1800"/>
              <a:buNone/>
              <a:defRPr sz="1800"/>
            </a:lvl3pPr>
            <a:lvl4pPr lvl="3" rtl="0" algn="ctr">
              <a:spcBef>
                <a:spcPts val="0"/>
              </a:spcBef>
              <a:spcAft>
                <a:spcPts val="0"/>
              </a:spcAft>
              <a:buSzPts val="1800"/>
              <a:buNone/>
              <a:defRPr sz="1800"/>
            </a:lvl4pPr>
            <a:lvl5pPr lvl="4" rtl="0" algn="ctr">
              <a:spcBef>
                <a:spcPts val="0"/>
              </a:spcBef>
              <a:spcAft>
                <a:spcPts val="0"/>
              </a:spcAft>
              <a:buSzPts val="1800"/>
              <a:buNone/>
              <a:defRPr sz="1800"/>
            </a:lvl5pPr>
            <a:lvl6pPr lvl="5" rtl="0" algn="ctr">
              <a:spcBef>
                <a:spcPts val="0"/>
              </a:spcBef>
              <a:spcAft>
                <a:spcPts val="0"/>
              </a:spcAft>
              <a:buSzPts val="1800"/>
              <a:buNone/>
              <a:defRPr sz="1800"/>
            </a:lvl6pPr>
            <a:lvl7pPr lvl="6" rtl="0" algn="ctr">
              <a:spcBef>
                <a:spcPts val="0"/>
              </a:spcBef>
              <a:spcAft>
                <a:spcPts val="0"/>
              </a:spcAft>
              <a:buSzPts val="1800"/>
              <a:buNone/>
              <a:defRPr sz="1800"/>
            </a:lvl7pPr>
            <a:lvl8pPr lvl="7" rtl="0" algn="ctr">
              <a:spcBef>
                <a:spcPts val="0"/>
              </a:spcBef>
              <a:spcAft>
                <a:spcPts val="0"/>
              </a:spcAft>
              <a:buSzPts val="1800"/>
              <a:buNone/>
              <a:defRPr sz="1800"/>
            </a:lvl8pPr>
            <a:lvl9pPr lvl="8" rtl="0" algn="ctr">
              <a:spcBef>
                <a:spcPts val="0"/>
              </a:spcBef>
              <a:spcAft>
                <a:spcPts val="0"/>
              </a:spcAft>
              <a:buSzPts val="1800"/>
              <a:buNone/>
              <a:defRPr sz="18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pic>
        <p:nvPicPr>
          <p:cNvPr id="45" name="Google Shape;45;p11"/>
          <p:cNvPicPr preferRelativeResize="0"/>
          <p:nvPr/>
        </p:nvPicPr>
        <p:blipFill rotWithShape="1">
          <a:blip r:embed="rId2">
            <a:alphaModFix/>
          </a:blip>
          <a:srcRect b="0" l="0" r="0" t="0"/>
          <a:stretch/>
        </p:blipFill>
        <p:spPr>
          <a:xfrm>
            <a:off x="0" y="1339"/>
            <a:ext cx="9143998" cy="5140822"/>
          </a:xfrm>
          <a:prstGeom prst="rect">
            <a:avLst/>
          </a:prstGeom>
          <a:noFill/>
          <a:ln>
            <a:noFill/>
          </a:ln>
        </p:spPr>
      </p:pic>
      <p:sp>
        <p:nvSpPr>
          <p:cNvPr id="46" name="Google Shape;46;p11"/>
          <p:cNvSpPr txBox="1"/>
          <p:nvPr>
            <p:ph hasCustomPrompt="1" type="title"/>
          </p:nvPr>
        </p:nvSpPr>
        <p:spPr>
          <a:xfrm>
            <a:off x="311700" y="2062500"/>
            <a:ext cx="8520600" cy="1110600"/>
          </a:xfrm>
          <a:prstGeom prst="rect">
            <a:avLst/>
          </a:prstGeom>
        </p:spPr>
        <p:txBody>
          <a:bodyPr anchorCtr="0" anchor="ctr" bIns="91425" lIns="91425" spcFirstLastPara="1" rIns="91425" wrap="square" tIns="91425">
            <a:noAutofit/>
          </a:bodyPr>
          <a:lstStyle>
            <a:lvl1pPr lvl="0" algn="ctr">
              <a:spcBef>
                <a:spcPts val="0"/>
              </a:spcBef>
              <a:spcAft>
                <a:spcPts val="0"/>
              </a:spcAft>
              <a:buSzPts val="12000"/>
              <a:buNone/>
              <a:defRPr sz="72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7" name="Google Shape;47;p11"/>
          <p:cNvSpPr txBox="1"/>
          <p:nvPr>
            <p:ph idx="1" type="body"/>
          </p:nvPr>
        </p:nvSpPr>
        <p:spPr>
          <a:xfrm>
            <a:off x="311700" y="3255700"/>
            <a:ext cx="8520600" cy="515400"/>
          </a:xfrm>
          <a:prstGeom prst="rect">
            <a:avLst/>
          </a:prstGeom>
        </p:spPr>
        <p:txBody>
          <a:bodyPr anchorCtr="0" anchor="t" bIns="91425" lIns="91425" spcFirstLastPara="1" rIns="91425" wrap="square" tIns="91425">
            <a:noAutofit/>
          </a:bodyPr>
          <a:lstStyle>
            <a:lvl1pPr indent="-304800" lvl="0" marL="457200" algn="ctr">
              <a:spcBef>
                <a:spcPts val="0"/>
              </a:spcBef>
              <a:spcAft>
                <a:spcPts val="0"/>
              </a:spcAft>
              <a:buSzPts val="1200"/>
              <a:buFont typeface="Fira Sans Condensed"/>
              <a:buChar char="●"/>
              <a:defRPr sz="1400">
                <a:latin typeface="Fira Sans Condensed"/>
                <a:ea typeface="Fira Sans Condensed"/>
                <a:cs typeface="Fira Sans Condensed"/>
                <a:sym typeface="Fira Sans Condensed"/>
              </a:defRPr>
            </a:lvl1pPr>
            <a:lvl2pPr indent="-304800" lvl="1" marL="9144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2pPr>
            <a:lvl3pPr indent="-304800" lvl="2" marL="13716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3pPr>
            <a:lvl4pPr indent="-304800" lvl="3" marL="1828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4pPr>
            <a:lvl5pPr indent="-304800" lvl="4" marL="22860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5pPr>
            <a:lvl6pPr indent="-304800" lvl="5" marL="27432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6pPr>
            <a:lvl7pPr indent="-304800" lvl="6" marL="32004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7pPr>
            <a:lvl8pPr indent="-304800" lvl="7" marL="36576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8pPr>
            <a:lvl9pPr indent="-304800" lvl="8" marL="4114800" algn="ctr">
              <a:spcBef>
                <a:spcPts val="0"/>
              </a:spcBef>
              <a:spcAft>
                <a:spcPts val="0"/>
              </a:spcAft>
              <a:buSzPts val="1200"/>
              <a:buFont typeface="Fira Sans Condensed"/>
              <a:buChar char="■"/>
              <a:defRPr>
                <a:latin typeface="Fira Sans Condensed"/>
                <a:ea typeface="Fira Sans Condensed"/>
                <a:cs typeface="Fira Sans Condensed"/>
                <a:sym typeface="Fira Sans Condensed"/>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8" name="Shape 48"/>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539500"/>
            <a:ext cx="77175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lt2"/>
              </a:buClr>
              <a:buSzPts val="2800"/>
              <a:buFont typeface="Rajdhani"/>
              <a:buNone/>
              <a:defRPr b="1" sz="2800">
                <a:solidFill>
                  <a:schemeClr val="lt2"/>
                </a:solidFill>
                <a:latin typeface="Rajdhani"/>
                <a:ea typeface="Rajdhani"/>
                <a:cs typeface="Rajdhani"/>
                <a:sym typeface="Rajdhani"/>
              </a:defRPr>
            </a:lvl1pPr>
            <a:lvl2pPr lvl="1">
              <a:spcBef>
                <a:spcPts val="0"/>
              </a:spcBef>
              <a:spcAft>
                <a:spcPts val="0"/>
              </a:spcAft>
              <a:buClr>
                <a:schemeClr val="lt2"/>
              </a:buClr>
              <a:buSzPts val="2800"/>
              <a:buFont typeface="Rajdhani"/>
              <a:buNone/>
              <a:defRPr b="1" sz="2800">
                <a:solidFill>
                  <a:schemeClr val="lt2"/>
                </a:solidFill>
                <a:latin typeface="Rajdhani"/>
                <a:ea typeface="Rajdhani"/>
                <a:cs typeface="Rajdhani"/>
                <a:sym typeface="Rajdhani"/>
              </a:defRPr>
            </a:lvl2pPr>
            <a:lvl3pPr lvl="2">
              <a:spcBef>
                <a:spcPts val="0"/>
              </a:spcBef>
              <a:spcAft>
                <a:spcPts val="0"/>
              </a:spcAft>
              <a:buClr>
                <a:schemeClr val="lt2"/>
              </a:buClr>
              <a:buSzPts val="2800"/>
              <a:buFont typeface="Rajdhani"/>
              <a:buNone/>
              <a:defRPr b="1" sz="2800">
                <a:solidFill>
                  <a:schemeClr val="lt2"/>
                </a:solidFill>
                <a:latin typeface="Rajdhani"/>
                <a:ea typeface="Rajdhani"/>
                <a:cs typeface="Rajdhani"/>
                <a:sym typeface="Rajdhani"/>
              </a:defRPr>
            </a:lvl3pPr>
            <a:lvl4pPr lvl="3">
              <a:spcBef>
                <a:spcPts val="0"/>
              </a:spcBef>
              <a:spcAft>
                <a:spcPts val="0"/>
              </a:spcAft>
              <a:buClr>
                <a:schemeClr val="lt2"/>
              </a:buClr>
              <a:buSzPts val="2800"/>
              <a:buFont typeface="Rajdhani"/>
              <a:buNone/>
              <a:defRPr b="1" sz="2800">
                <a:solidFill>
                  <a:schemeClr val="lt2"/>
                </a:solidFill>
                <a:latin typeface="Rajdhani"/>
                <a:ea typeface="Rajdhani"/>
                <a:cs typeface="Rajdhani"/>
                <a:sym typeface="Rajdhani"/>
              </a:defRPr>
            </a:lvl4pPr>
            <a:lvl5pPr lvl="4">
              <a:spcBef>
                <a:spcPts val="0"/>
              </a:spcBef>
              <a:spcAft>
                <a:spcPts val="0"/>
              </a:spcAft>
              <a:buClr>
                <a:schemeClr val="lt2"/>
              </a:buClr>
              <a:buSzPts val="2800"/>
              <a:buFont typeface="Rajdhani"/>
              <a:buNone/>
              <a:defRPr b="1" sz="2800">
                <a:solidFill>
                  <a:schemeClr val="lt2"/>
                </a:solidFill>
                <a:latin typeface="Rajdhani"/>
                <a:ea typeface="Rajdhani"/>
                <a:cs typeface="Rajdhani"/>
                <a:sym typeface="Rajdhani"/>
              </a:defRPr>
            </a:lvl5pPr>
            <a:lvl6pPr lvl="5">
              <a:spcBef>
                <a:spcPts val="0"/>
              </a:spcBef>
              <a:spcAft>
                <a:spcPts val="0"/>
              </a:spcAft>
              <a:buClr>
                <a:schemeClr val="lt2"/>
              </a:buClr>
              <a:buSzPts val="2800"/>
              <a:buFont typeface="Rajdhani"/>
              <a:buNone/>
              <a:defRPr b="1" sz="2800">
                <a:solidFill>
                  <a:schemeClr val="lt2"/>
                </a:solidFill>
                <a:latin typeface="Rajdhani"/>
                <a:ea typeface="Rajdhani"/>
                <a:cs typeface="Rajdhani"/>
                <a:sym typeface="Rajdhani"/>
              </a:defRPr>
            </a:lvl6pPr>
            <a:lvl7pPr lvl="6">
              <a:spcBef>
                <a:spcPts val="0"/>
              </a:spcBef>
              <a:spcAft>
                <a:spcPts val="0"/>
              </a:spcAft>
              <a:buClr>
                <a:schemeClr val="lt2"/>
              </a:buClr>
              <a:buSzPts val="2800"/>
              <a:buFont typeface="Rajdhani"/>
              <a:buNone/>
              <a:defRPr b="1" sz="2800">
                <a:solidFill>
                  <a:schemeClr val="lt2"/>
                </a:solidFill>
                <a:latin typeface="Rajdhani"/>
                <a:ea typeface="Rajdhani"/>
                <a:cs typeface="Rajdhani"/>
                <a:sym typeface="Rajdhani"/>
              </a:defRPr>
            </a:lvl7pPr>
            <a:lvl8pPr lvl="7">
              <a:spcBef>
                <a:spcPts val="0"/>
              </a:spcBef>
              <a:spcAft>
                <a:spcPts val="0"/>
              </a:spcAft>
              <a:buClr>
                <a:schemeClr val="lt2"/>
              </a:buClr>
              <a:buSzPts val="2800"/>
              <a:buFont typeface="Rajdhani"/>
              <a:buNone/>
              <a:defRPr b="1" sz="2800">
                <a:solidFill>
                  <a:schemeClr val="lt2"/>
                </a:solidFill>
                <a:latin typeface="Rajdhani"/>
                <a:ea typeface="Rajdhani"/>
                <a:cs typeface="Rajdhani"/>
                <a:sym typeface="Rajdhani"/>
              </a:defRPr>
            </a:lvl8pPr>
            <a:lvl9pPr lvl="8">
              <a:spcBef>
                <a:spcPts val="0"/>
              </a:spcBef>
              <a:spcAft>
                <a:spcPts val="0"/>
              </a:spcAft>
              <a:buClr>
                <a:schemeClr val="lt2"/>
              </a:buClr>
              <a:buSzPts val="2800"/>
              <a:buFont typeface="Rajdhani"/>
              <a:buNone/>
              <a:defRPr b="1" sz="2800">
                <a:solidFill>
                  <a:schemeClr val="lt2"/>
                </a:solidFill>
                <a:latin typeface="Rajdhani"/>
                <a:ea typeface="Rajdhani"/>
                <a:cs typeface="Rajdhani"/>
                <a:sym typeface="Rajdhani"/>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04800" lvl="0" marL="4572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1pPr>
            <a:lvl2pPr indent="-304800" lvl="1" marL="9144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2pPr>
            <a:lvl3pPr indent="-304800" lvl="2" marL="13716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3pPr>
            <a:lvl4pPr indent="-304800" lvl="3" marL="1828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4pPr>
            <a:lvl5pPr indent="-304800" lvl="4" marL="22860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5pPr>
            <a:lvl6pPr indent="-304800" lvl="5" marL="27432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6pPr>
            <a:lvl7pPr indent="-304800" lvl="6" marL="32004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7pPr>
            <a:lvl8pPr indent="-304800" lvl="7" marL="36576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8pPr>
            <a:lvl9pPr indent="-304800" lvl="8" marL="4114800">
              <a:lnSpc>
                <a:spcPct val="100000"/>
              </a:lnSpc>
              <a:spcBef>
                <a:spcPts val="0"/>
              </a:spcBef>
              <a:spcAft>
                <a:spcPts val="0"/>
              </a:spcAft>
              <a:buClr>
                <a:schemeClr val="lt2"/>
              </a:buClr>
              <a:buSzPts val="1200"/>
              <a:buFont typeface="Fira Sans Condensed Light"/>
              <a:buChar char="■"/>
              <a:defRPr sz="1200">
                <a:solidFill>
                  <a:schemeClr val="lt2"/>
                </a:solidFill>
                <a:latin typeface="Fira Sans Condensed Light"/>
                <a:ea typeface="Fira Sans Condensed Light"/>
                <a:cs typeface="Fira Sans Condensed Light"/>
                <a:sym typeface="Fira Sans Condensed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extLst>
    <p:ext uri="{27BBF7A9-308A-43DC-89C8-2F10F3537804}">
      <p15:sldGuideLst>
        <p15:guide id="1" pos="449">
          <p15:clr>
            <a:srgbClr val="EA4335"/>
          </p15:clr>
        </p15:guide>
        <p15:guide id="2" pos="2880">
          <p15:clr>
            <a:srgbClr val="EA4335"/>
          </p15:clr>
        </p15:guide>
        <p15:guide id="3" pos="5311">
          <p15:clr>
            <a:srgbClr val="EA4335"/>
          </p15:clr>
        </p15:guide>
        <p15:guide id="4" orient="horz" pos="340">
          <p15:clr>
            <a:srgbClr val="EA4335"/>
          </p15:clr>
        </p15:guide>
        <p15:guide id="5" orient="horz" pos="2903">
          <p15:clr>
            <a:srgbClr val="EA4335"/>
          </p15:clr>
        </p15:guide>
        <p15:guide id="6" orient="horz" pos="1620">
          <p15:clr>
            <a:srgbClr val="EA4335"/>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8.jp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https://public.tableau.com/app/profile/abhi.jindal6832/viz/Book3_17651468791060/Dashboard1?publish=yes"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https://public.tableau.com/app/profile/abhi.jindal6832/viz/Book3_17651468791060/Dashboard2?publish=yes"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2" name="Shape 52"/>
        <p:cNvGrpSpPr/>
        <p:nvPr/>
      </p:nvGrpSpPr>
      <p:grpSpPr>
        <a:xfrm>
          <a:off x="0" y="0"/>
          <a:ext cx="0" cy="0"/>
          <a:chOff x="0" y="0"/>
          <a:chExt cx="0" cy="0"/>
        </a:xfrm>
      </p:grpSpPr>
      <p:sp>
        <p:nvSpPr>
          <p:cNvPr id="53" name="Google Shape;53;p13"/>
          <p:cNvSpPr txBox="1"/>
          <p:nvPr>
            <p:ph type="ctrTitle"/>
          </p:nvPr>
        </p:nvSpPr>
        <p:spPr>
          <a:xfrm>
            <a:off x="4139149" y="928938"/>
            <a:ext cx="4291500" cy="29610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AI TECH AGENCY</a:t>
            </a:r>
            <a:endParaRPr/>
          </a:p>
          <a:p>
            <a:pPr indent="0" lvl="0" marL="0" rtl="0" algn="l">
              <a:spcBef>
                <a:spcPts val="0"/>
              </a:spcBef>
              <a:spcAft>
                <a:spcPts val="0"/>
              </a:spcAft>
              <a:buNone/>
            </a:pPr>
            <a:r>
              <a:rPr lang="en" sz="5000"/>
              <a:t>INFOGRAPHICS</a:t>
            </a:r>
            <a:endParaRPr sz="5000"/>
          </a:p>
        </p:txBody>
      </p:sp>
      <p:sp>
        <p:nvSpPr>
          <p:cNvPr id="54" name="Google Shape;54;p13"/>
          <p:cNvSpPr txBox="1"/>
          <p:nvPr>
            <p:ph idx="1" type="subTitle"/>
          </p:nvPr>
        </p:nvSpPr>
        <p:spPr>
          <a:xfrm>
            <a:off x="4139125" y="3848863"/>
            <a:ext cx="4291500" cy="365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By Abhi Jindal, Daaksha Arun, Khoi Thai, Adam Schuler, Jesse Kinsmann</a:t>
            </a:r>
            <a:endParaRPr/>
          </a:p>
        </p:txBody>
      </p:sp>
      <p:pic>
        <p:nvPicPr>
          <p:cNvPr id="55" name="Google Shape;55;p13"/>
          <p:cNvPicPr preferRelativeResize="0"/>
          <p:nvPr/>
        </p:nvPicPr>
        <p:blipFill rotWithShape="1">
          <a:blip r:embed="rId4">
            <a:alphaModFix/>
          </a:blip>
          <a:srcRect b="0" l="25302" r="25297" t="0"/>
          <a:stretch/>
        </p:blipFill>
        <p:spPr>
          <a:xfrm>
            <a:off x="767950" y="978400"/>
            <a:ext cx="3049450" cy="3472324"/>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Business Problem — Why This Study Matters</a:t>
            </a:r>
            <a:endParaRPr sz="2400"/>
          </a:p>
          <a:p>
            <a:pPr indent="0" lvl="0" marL="0" rtl="0" algn="ctr">
              <a:spcBef>
                <a:spcPts val="0"/>
              </a:spcBef>
              <a:spcAft>
                <a:spcPts val="0"/>
              </a:spcAft>
              <a:buNone/>
            </a:pPr>
            <a:r>
              <a:t/>
            </a:r>
            <a:endParaRPr/>
          </a:p>
        </p:txBody>
      </p:sp>
      <p:sp>
        <p:nvSpPr>
          <p:cNvPr id="61" name="Google Shape;61;p14"/>
          <p:cNvSpPr txBox="1"/>
          <p:nvPr/>
        </p:nvSpPr>
        <p:spPr>
          <a:xfrm>
            <a:off x="749175" y="1584250"/>
            <a:ext cx="7492500" cy="31146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Goal:</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Understand how skills, salaries, AI adoption, and geography impact student career readiness</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15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Students as Key Stakeholders:</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Need accurate, unbiased, forward-looking insights</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15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What We Examine:</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Technology preferences by experience</a:t>
            </a:r>
            <a:endParaRPr sz="1200">
              <a:solidFill>
                <a:schemeClr val="lt2"/>
              </a:solidFill>
              <a:latin typeface="Fira Sans Condensed Light"/>
              <a:ea typeface="Fira Sans Condensed Light"/>
              <a:cs typeface="Fira Sans Condensed Light"/>
              <a:sym typeface="Fira Sans Condensed Light"/>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Salary disparities across roles &amp; skills</a:t>
            </a:r>
            <a:endParaRPr sz="1200">
              <a:solidFill>
                <a:schemeClr val="lt2"/>
              </a:solidFill>
              <a:latin typeface="Fira Sans Condensed Light"/>
              <a:ea typeface="Fira Sans Condensed Light"/>
              <a:cs typeface="Fira Sans Condensed Light"/>
              <a:sym typeface="Fira Sans Condensed Light"/>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Growing role of AI</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15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Value to Students:</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Turns industry trends into actionable career guidance</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15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Outcome:</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Supports better decisions on coursework, specialization, and job paths</a:t>
            </a:r>
            <a:endParaRPr sz="1200">
              <a:solidFill>
                <a:schemeClr val="lt2"/>
              </a:solidFill>
              <a:latin typeface="Fira Sans Condensed Light"/>
              <a:ea typeface="Fira Sans Condensed Light"/>
              <a:cs typeface="Fira Sans Condensed Light"/>
              <a:sym typeface="Fira Sans Condense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Motivation — Why We Chose This Topic</a:t>
            </a:r>
            <a:endParaRPr sz="2400"/>
          </a:p>
          <a:p>
            <a:pPr indent="0" lvl="0" marL="0" rtl="0" algn="ctr">
              <a:spcBef>
                <a:spcPts val="0"/>
              </a:spcBef>
              <a:spcAft>
                <a:spcPts val="0"/>
              </a:spcAft>
              <a:buNone/>
            </a:pPr>
            <a:r>
              <a:t/>
            </a:r>
            <a:endParaRPr/>
          </a:p>
        </p:txBody>
      </p:sp>
      <p:sp>
        <p:nvSpPr>
          <p:cNvPr id="67" name="Google Shape;67;p15"/>
          <p:cNvSpPr txBox="1"/>
          <p:nvPr/>
        </p:nvSpPr>
        <p:spPr>
          <a:xfrm>
            <a:off x="749175" y="1584250"/>
            <a:ext cx="7492500" cy="3114600"/>
          </a:xfrm>
          <a:prstGeom prst="rect">
            <a:avLst/>
          </a:prstGeom>
          <a:noFill/>
          <a:ln>
            <a:noFill/>
          </a:ln>
        </p:spPr>
        <p:txBody>
          <a:bodyPr anchorCtr="0" anchor="t" bIns="91425" lIns="91425" spcFirstLastPara="1" rIns="91425" wrap="square" tIns="91425">
            <a:noAutofit/>
          </a:bodyPr>
          <a:lstStyle/>
          <a:p>
            <a:pPr indent="-304800" lvl="0" marL="457200" rtl="0" algn="l">
              <a:lnSpc>
                <a:spcPct val="115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Students must understand that AI is Reshaping the Job Market</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How professionals actually use AI</a:t>
            </a:r>
            <a:endParaRPr sz="1200">
              <a:solidFill>
                <a:schemeClr val="lt2"/>
              </a:solidFill>
              <a:latin typeface="Fira Sans Condensed Light"/>
              <a:ea typeface="Fira Sans Condensed Light"/>
              <a:cs typeface="Fira Sans Condensed Light"/>
              <a:sym typeface="Fira Sans Condensed Light"/>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Which skills are rising in value</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15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Purpose of This Study:</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Help students:</a:t>
            </a:r>
            <a:endParaRPr sz="1200">
              <a:solidFill>
                <a:schemeClr val="lt2"/>
              </a:solidFill>
              <a:latin typeface="Fira Sans Condensed Light"/>
              <a:ea typeface="Fira Sans Condensed Light"/>
              <a:cs typeface="Fira Sans Condensed Light"/>
              <a:sym typeface="Fira Sans Condensed Light"/>
            </a:endParaRPr>
          </a:p>
          <a:p>
            <a:pPr indent="-304800" lvl="2" marL="13716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Build high-impact technical skills</a:t>
            </a:r>
            <a:endParaRPr sz="1200">
              <a:solidFill>
                <a:schemeClr val="lt2"/>
              </a:solidFill>
              <a:latin typeface="Fira Sans Condensed Light"/>
              <a:ea typeface="Fira Sans Condensed Light"/>
              <a:cs typeface="Fira Sans Condensed Light"/>
              <a:sym typeface="Fira Sans Condensed Light"/>
            </a:endParaRPr>
          </a:p>
          <a:p>
            <a:pPr indent="-304800" lvl="2" marL="13716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Stay competitive in hiring</a:t>
            </a:r>
            <a:endParaRPr sz="1200">
              <a:solidFill>
                <a:schemeClr val="lt2"/>
              </a:solidFill>
              <a:latin typeface="Fira Sans Condensed Light"/>
              <a:ea typeface="Fira Sans Condensed Light"/>
              <a:cs typeface="Fira Sans Condensed Light"/>
              <a:sym typeface="Fira Sans Condensed Light"/>
            </a:endParaRPr>
          </a:p>
          <a:p>
            <a:pPr indent="-304800" lvl="2" marL="13716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Prepare for an AI-driven workforce</a:t>
            </a:r>
            <a:endParaRPr sz="1200">
              <a:solidFill>
                <a:schemeClr val="lt2"/>
              </a:solidFill>
              <a:latin typeface="Fira Sans Condensed Light"/>
              <a:ea typeface="Fira Sans Condensed Light"/>
              <a:cs typeface="Fira Sans Condensed Light"/>
              <a:sym typeface="Fira Sans Condensed Light"/>
            </a:endParaRPr>
          </a:p>
          <a:p>
            <a:pPr indent="-304800" lvl="1" marL="9144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Personal Academic Relevance:</a:t>
            </a:r>
            <a:endParaRPr sz="1200">
              <a:solidFill>
                <a:schemeClr val="lt2"/>
              </a:solidFill>
              <a:latin typeface="Fira Sans Condensed Light"/>
              <a:ea typeface="Fira Sans Condensed Light"/>
              <a:cs typeface="Fira Sans Condensed Light"/>
              <a:sym typeface="Fira Sans Condensed Light"/>
            </a:endParaRPr>
          </a:p>
          <a:p>
            <a:pPr indent="-304800" lvl="2" marL="1371600" rtl="0" algn="l">
              <a:lnSpc>
                <a:spcPct val="115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Directly supports our own career planning &amp; skill development</a:t>
            </a:r>
            <a:endParaRPr sz="1200">
              <a:solidFill>
                <a:schemeClr val="lt2"/>
              </a:solidFill>
              <a:latin typeface="Fira Sans Condensed Light"/>
              <a:ea typeface="Fira Sans Condensed Light"/>
              <a:cs typeface="Fira Sans Condensed Light"/>
              <a:sym typeface="Fira Sans Condensed Light"/>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Executive Summary — What We Analyzed &amp; Found</a:t>
            </a:r>
            <a:endParaRPr sz="2400"/>
          </a:p>
          <a:p>
            <a:pPr indent="0" lvl="0" marL="0" rtl="0" algn="ctr">
              <a:spcBef>
                <a:spcPts val="0"/>
              </a:spcBef>
              <a:spcAft>
                <a:spcPts val="0"/>
              </a:spcAft>
              <a:buNone/>
            </a:pPr>
            <a:r>
              <a:t/>
            </a:r>
            <a:endParaRPr/>
          </a:p>
        </p:txBody>
      </p:sp>
      <p:sp>
        <p:nvSpPr>
          <p:cNvPr id="73" name="Google Shape;73;p16"/>
          <p:cNvSpPr txBox="1"/>
          <p:nvPr/>
        </p:nvSpPr>
        <p:spPr>
          <a:xfrm>
            <a:off x="749175" y="1584250"/>
            <a:ext cx="7492500" cy="31146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Dataset: 2023 Stack Overflow Developer Survey</a:t>
            </a:r>
            <a:endParaRPr b="1" sz="1200">
              <a:solidFill>
                <a:schemeClr val="lt2"/>
              </a:solidFill>
              <a:latin typeface="Fira Sans Condensed"/>
              <a:ea typeface="Fira Sans Condensed"/>
              <a:cs typeface="Fira Sans Condensed"/>
              <a:sym typeface="Fira Sans Condensed"/>
            </a:endParaRPr>
          </a:p>
          <a:p>
            <a:pPr indent="-304800" lvl="0" marL="457200" rtl="0" algn="l">
              <a:lnSpc>
                <a:spcPct val="100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Focus Areas:</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00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Compensation, Experience, Programming Languages, AI Tool Usage</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00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Data Quality Handling:</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00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70%+ missing values addressed via removal &amp; imputation</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00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Core Stack Still Dominates:</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00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Python, JavaScript, SQL, HTML/CSS, Java, C#, C++, PHP</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00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Emerging Languages Rising:</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00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Go, Rust, Kotlin</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00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AI is Now Commonplace:</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00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High AI usage across roles &amp; company sizes</a:t>
            </a:r>
            <a:endParaRPr sz="1200">
              <a:solidFill>
                <a:schemeClr val="lt2"/>
              </a:solidFill>
              <a:latin typeface="Fira Sans Condensed Light"/>
              <a:ea typeface="Fira Sans Condensed Light"/>
              <a:cs typeface="Fira Sans Condensed Light"/>
              <a:sym typeface="Fira Sans Condensed Light"/>
            </a:endParaRPr>
          </a:p>
          <a:p>
            <a:pPr indent="-304800" lvl="1" marL="914400" rtl="0" algn="l">
              <a:lnSpc>
                <a:spcPct val="100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Strong U.S. representation</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00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Key Insight:</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00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Core skills + Emerging tools + AI literacy = Career readiness</a:t>
            </a:r>
            <a:endParaRPr sz="1200">
              <a:solidFill>
                <a:schemeClr val="lt2"/>
              </a:solidFill>
              <a:latin typeface="Fira Sans Condensed Light"/>
              <a:ea typeface="Fira Sans Condensed Light"/>
              <a:cs typeface="Fira Sans Condensed Light"/>
              <a:sym typeface="Fira Sans Condensed Light"/>
            </a:endParaRPr>
          </a:p>
          <a:p>
            <a:pPr indent="-304800" lvl="0" marL="457200" rtl="0" algn="l">
              <a:lnSpc>
                <a:spcPct val="100000"/>
              </a:lnSpc>
              <a:spcBef>
                <a:spcPts val="0"/>
              </a:spcBef>
              <a:spcAft>
                <a:spcPts val="0"/>
              </a:spcAft>
              <a:buClr>
                <a:schemeClr val="lt2"/>
              </a:buClr>
              <a:buSzPts val="1200"/>
              <a:buFont typeface="Fira Sans Condensed"/>
              <a:buChar char="●"/>
            </a:pPr>
            <a:r>
              <a:rPr b="1" lang="en" sz="1200">
                <a:solidFill>
                  <a:schemeClr val="lt2"/>
                </a:solidFill>
                <a:latin typeface="Fira Sans Condensed"/>
                <a:ea typeface="Fira Sans Condensed"/>
                <a:cs typeface="Fira Sans Condensed"/>
                <a:sym typeface="Fira Sans Condensed"/>
              </a:rPr>
              <a:t>Caution:</a:t>
            </a:r>
            <a:endParaRPr b="1" sz="1200">
              <a:solidFill>
                <a:schemeClr val="lt2"/>
              </a:solidFill>
              <a:latin typeface="Fira Sans Condensed"/>
              <a:ea typeface="Fira Sans Condensed"/>
              <a:cs typeface="Fira Sans Condensed"/>
              <a:sym typeface="Fira Sans Condensed"/>
            </a:endParaRPr>
          </a:p>
          <a:p>
            <a:pPr indent="-304800" lvl="1" marL="914400" rtl="0" algn="l">
              <a:lnSpc>
                <a:spcPct val="100000"/>
              </a:lnSpc>
              <a:spcBef>
                <a:spcPts val="0"/>
              </a:spcBef>
              <a:spcAft>
                <a:spcPts val="0"/>
              </a:spcAft>
              <a:buClr>
                <a:schemeClr val="lt2"/>
              </a:buClr>
              <a:buSzPts val="1200"/>
              <a:buFont typeface="Fira Sans Condensed Light"/>
              <a:buChar char="○"/>
            </a:pPr>
            <a:r>
              <a:rPr lang="en" sz="1200">
                <a:solidFill>
                  <a:schemeClr val="lt2"/>
                </a:solidFill>
                <a:latin typeface="Fira Sans Condensed Light"/>
                <a:ea typeface="Fira Sans Condensed Light"/>
                <a:cs typeface="Fira Sans Condensed Light"/>
                <a:sym typeface="Fira Sans Condensed Light"/>
              </a:rPr>
              <a:t>Salary &amp; regional insights limited by missing data</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100000"/>
              </a:lnSpc>
              <a:spcBef>
                <a:spcPts val="0"/>
              </a:spcBef>
              <a:spcAft>
                <a:spcPts val="0"/>
              </a:spcAft>
              <a:buNone/>
            </a:pPr>
            <a:r>
              <a:t/>
            </a:r>
            <a:endParaRPr b="1" sz="1200">
              <a:solidFill>
                <a:schemeClr val="lt2"/>
              </a:solidFill>
              <a:latin typeface="Fira Sans Condensed"/>
              <a:ea typeface="Fira Sans Condensed"/>
              <a:cs typeface="Fira Sans Condensed"/>
              <a:sym typeface="Fira Sans Condense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7" name="Shape 77"/>
        <p:cNvGrpSpPr/>
        <p:nvPr/>
      </p:nvGrpSpPr>
      <p:grpSpPr>
        <a:xfrm>
          <a:off x="0" y="0"/>
          <a:ext cx="0" cy="0"/>
          <a:chOff x="0" y="0"/>
          <a:chExt cx="0" cy="0"/>
        </a:xfrm>
      </p:grpSpPr>
      <p:sp>
        <p:nvSpPr>
          <p:cNvPr id="78" name="Google Shape;78;p17"/>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We Used Agentic AI to Extract Additional Data</a:t>
            </a:r>
            <a:endParaRPr sz="3000"/>
          </a:p>
        </p:txBody>
      </p:sp>
      <p:sp>
        <p:nvSpPr>
          <p:cNvPr id="79" name="Google Shape;79;p17"/>
          <p:cNvSpPr txBox="1"/>
          <p:nvPr>
            <p:ph idx="1" type="body"/>
          </p:nvPr>
        </p:nvSpPr>
        <p:spPr>
          <a:xfrm>
            <a:off x="1115100" y="1152475"/>
            <a:ext cx="6913800" cy="3456000"/>
          </a:xfrm>
          <a:prstGeom prst="rect">
            <a:avLst/>
          </a:prstGeom>
        </p:spPr>
        <p:txBody>
          <a:bodyPr anchorCtr="0" anchor="t" bIns="91425" lIns="91425" spcFirstLastPara="1" rIns="91425" wrap="square" tIns="91425">
            <a:noAutofit/>
          </a:bodyPr>
          <a:lstStyle/>
          <a:p>
            <a:pPr indent="-317500" lvl="0" marL="457200" rtl="0" algn="l">
              <a:lnSpc>
                <a:spcPct val="150000"/>
              </a:lnSpc>
              <a:spcBef>
                <a:spcPts val="0"/>
              </a:spcBef>
              <a:spcAft>
                <a:spcPts val="0"/>
              </a:spcAft>
              <a:buClr>
                <a:schemeClr val="lt2"/>
              </a:buClr>
              <a:buSzPts val="1400"/>
              <a:buChar char="●"/>
            </a:pPr>
            <a:r>
              <a:rPr lang="en">
                <a:solidFill>
                  <a:schemeClr val="lt2"/>
                </a:solidFill>
              </a:rPr>
              <a:t>Used </a:t>
            </a:r>
            <a:r>
              <a:rPr lang="en">
                <a:solidFill>
                  <a:schemeClr val="lt2"/>
                </a:solidFill>
              </a:rPr>
              <a:t>Mckinsey State of AI reports </a:t>
            </a:r>
            <a:endParaRPr>
              <a:solidFill>
                <a:schemeClr val="lt2"/>
              </a:solidFill>
            </a:endParaRPr>
          </a:p>
          <a:p>
            <a:pPr indent="-317500" lvl="0" marL="457200" rtl="0" algn="l">
              <a:lnSpc>
                <a:spcPct val="150000"/>
              </a:lnSpc>
              <a:spcBef>
                <a:spcPts val="0"/>
              </a:spcBef>
              <a:spcAft>
                <a:spcPts val="0"/>
              </a:spcAft>
              <a:buClr>
                <a:schemeClr val="lt2"/>
              </a:buClr>
              <a:buSzPts val="1400"/>
              <a:buChar char="●"/>
            </a:pPr>
            <a:r>
              <a:rPr lang="en">
                <a:solidFill>
                  <a:schemeClr val="lt2"/>
                </a:solidFill>
              </a:rPr>
              <a:t>Defined extraction instructions for ChatGPT Agent</a:t>
            </a:r>
            <a:endParaRPr>
              <a:solidFill>
                <a:schemeClr val="lt2"/>
              </a:solidFill>
            </a:endParaRPr>
          </a:p>
          <a:p>
            <a:pPr indent="-317500" lvl="1" marL="914400" rtl="0" algn="l">
              <a:lnSpc>
                <a:spcPct val="150000"/>
              </a:lnSpc>
              <a:spcBef>
                <a:spcPts val="0"/>
              </a:spcBef>
              <a:spcAft>
                <a:spcPts val="0"/>
              </a:spcAft>
              <a:buClr>
                <a:schemeClr val="lt2"/>
              </a:buClr>
              <a:buSzPts val="1400"/>
              <a:buChar char="○"/>
            </a:pPr>
            <a:r>
              <a:rPr lang="en"/>
              <a:t>Analyze Charts</a:t>
            </a:r>
            <a:endParaRPr/>
          </a:p>
          <a:p>
            <a:pPr indent="-317500" lvl="1" marL="914400" rtl="0" algn="l">
              <a:lnSpc>
                <a:spcPct val="150000"/>
              </a:lnSpc>
              <a:spcBef>
                <a:spcPts val="0"/>
              </a:spcBef>
              <a:spcAft>
                <a:spcPts val="0"/>
              </a:spcAft>
              <a:buClr>
                <a:schemeClr val="lt2"/>
              </a:buClr>
              <a:buSzPts val="1400"/>
              <a:buChar char="○"/>
            </a:pPr>
            <a:r>
              <a:rPr lang="en"/>
              <a:t>Read Tables</a:t>
            </a:r>
            <a:endParaRPr/>
          </a:p>
          <a:p>
            <a:pPr indent="-317500" lvl="0" marL="457200" rtl="0" algn="l">
              <a:lnSpc>
                <a:spcPct val="150000"/>
              </a:lnSpc>
              <a:spcBef>
                <a:spcPts val="0"/>
              </a:spcBef>
              <a:spcAft>
                <a:spcPts val="0"/>
              </a:spcAft>
              <a:buClr>
                <a:schemeClr val="lt2"/>
              </a:buClr>
              <a:buSzPts val="1400"/>
              <a:buChar char="●"/>
            </a:pPr>
            <a:r>
              <a:rPr lang="en">
                <a:solidFill>
                  <a:schemeClr val="lt2"/>
                </a:solidFill>
              </a:rPr>
              <a:t>Outputted matching graphs to tables </a:t>
            </a:r>
            <a:endParaRPr>
              <a:solidFill>
                <a:schemeClr val="lt2"/>
              </a:solidFill>
            </a:endParaRPr>
          </a:p>
          <a:p>
            <a:pPr indent="-317500" lvl="0" marL="457200" rtl="0" algn="l">
              <a:lnSpc>
                <a:spcPct val="150000"/>
              </a:lnSpc>
              <a:spcBef>
                <a:spcPts val="0"/>
              </a:spcBef>
              <a:spcAft>
                <a:spcPts val="0"/>
              </a:spcAft>
              <a:buClr>
                <a:schemeClr val="lt2"/>
              </a:buClr>
              <a:buSzPts val="1400"/>
              <a:buChar char="●"/>
            </a:pPr>
            <a:r>
              <a:rPr lang="en">
                <a:solidFill>
                  <a:schemeClr val="lt2"/>
                </a:solidFill>
              </a:rPr>
              <a:t>Validated through human review</a:t>
            </a:r>
            <a:endParaRPr>
              <a:solidFill>
                <a:schemeClr val="lt2"/>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3" name="Shape 83"/>
        <p:cNvGrpSpPr/>
        <p:nvPr/>
      </p:nvGrpSpPr>
      <p:grpSpPr>
        <a:xfrm>
          <a:off x="0" y="0"/>
          <a:ext cx="0" cy="0"/>
          <a:chOff x="0" y="0"/>
          <a:chExt cx="0" cy="0"/>
        </a:xfrm>
      </p:grpSpPr>
      <p:sp>
        <p:nvSpPr>
          <p:cNvPr id="84" name="Google Shape;84;p18"/>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ER Diagram</a:t>
            </a:r>
            <a:endParaRPr sz="3000"/>
          </a:p>
        </p:txBody>
      </p:sp>
      <p:sp>
        <p:nvSpPr>
          <p:cNvPr id="85" name="Google Shape;85;p18"/>
          <p:cNvSpPr txBox="1"/>
          <p:nvPr>
            <p:ph idx="1" type="body"/>
          </p:nvPr>
        </p:nvSpPr>
        <p:spPr>
          <a:xfrm>
            <a:off x="4853925" y="1152475"/>
            <a:ext cx="3841800" cy="3456000"/>
          </a:xfrm>
          <a:prstGeom prst="rect">
            <a:avLst/>
          </a:prstGeom>
        </p:spPr>
        <p:txBody>
          <a:bodyPr anchorCtr="0" anchor="t" bIns="91425" lIns="91425" spcFirstLastPara="1" rIns="91425" wrap="square" tIns="91425">
            <a:noAutofit/>
          </a:bodyPr>
          <a:lstStyle/>
          <a:p>
            <a:pPr indent="-304800" lvl="0" marL="457200" rtl="0" algn="l">
              <a:spcBef>
                <a:spcPts val="0"/>
              </a:spcBef>
              <a:spcAft>
                <a:spcPts val="0"/>
              </a:spcAft>
              <a:buClr>
                <a:schemeClr val="lt2"/>
              </a:buClr>
              <a:buSzPts val="1200"/>
              <a:buChar char="●"/>
            </a:pPr>
            <a:r>
              <a:rPr b="1" lang="en" sz="1200">
                <a:solidFill>
                  <a:schemeClr val="lt2"/>
                </a:solidFill>
              </a:rPr>
              <a:t>Central Hub – Respondents:</a:t>
            </a:r>
            <a:endParaRPr b="1" sz="1200">
              <a:solidFill>
                <a:schemeClr val="lt2"/>
              </a:solidFill>
            </a:endParaRPr>
          </a:p>
          <a:p>
            <a:pPr indent="-304800" lvl="1" marL="914400" rtl="0" algn="l">
              <a:spcBef>
                <a:spcPts val="0"/>
              </a:spcBef>
              <a:spcAft>
                <a:spcPts val="0"/>
              </a:spcAft>
              <a:buClr>
                <a:schemeClr val="lt2"/>
              </a:buClr>
              <a:buSzPts val="1200"/>
              <a:buChar char="○"/>
            </a:pPr>
            <a:r>
              <a:rPr lang="en" sz="1200">
                <a:solidFill>
                  <a:schemeClr val="lt2"/>
                </a:solidFill>
              </a:rPr>
              <a:t>Stores Age, Education, Location, Compensation</a:t>
            </a:r>
            <a:endParaRPr sz="1200">
              <a:solidFill>
                <a:schemeClr val="lt2"/>
              </a:solidFill>
            </a:endParaRPr>
          </a:p>
          <a:p>
            <a:pPr indent="-304800" lvl="1" marL="914400" rtl="0" algn="l">
              <a:spcBef>
                <a:spcPts val="0"/>
              </a:spcBef>
              <a:spcAft>
                <a:spcPts val="0"/>
              </a:spcAft>
              <a:buClr>
                <a:schemeClr val="lt2"/>
              </a:buClr>
              <a:buSzPts val="1200"/>
              <a:buChar char="○"/>
            </a:pPr>
            <a:r>
              <a:rPr lang="en" sz="1200">
                <a:solidFill>
                  <a:schemeClr val="lt2"/>
                </a:solidFill>
              </a:rPr>
              <a:t>Connects to all behavioral, career, and technology data</a:t>
            </a:r>
            <a:endParaRPr sz="1200">
              <a:solidFill>
                <a:schemeClr val="lt2"/>
              </a:solidFill>
            </a:endParaRPr>
          </a:p>
          <a:p>
            <a:pPr indent="-304800" lvl="0" marL="457200" rtl="0" algn="l">
              <a:spcBef>
                <a:spcPts val="0"/>
              </a:spcBef>
              <a:spcAft>
                <a:spcPts val="0"/>
              </a:spcAft>
              <a:buClr>
                <a:schemeClr val="lt2"/>
              </a:buClr>
              <a:buSzPts val="1200"/>
              <a:buChar char="●"/>
            </a:pPr>
            <a:r>
              <a:rPr b="1" lang="en" sz="1200">
                <a:solidFill>
                  <a:schemeClr val="lt2"/>
                </a:solidFill>
              </a:rPr>
              <a:t>Survey Structure:</a:t>
            </a:r>
            <a:endParaRPr b="1" sz="1200">
              <a:solidFill>
                <a:schemeClr val="lt2"/>
              </a:solidFill>
            </a:endParaRPr>
          </a:p>
          <a:p>
            <a:pPr indent="-304800" lvl="1" marL="914400" rtl="0" algn="l">
              <a:spcBef>
                <a:spcPts val="0"/>
              </a:spcBef>
              <a:spcAft>
                <a:spcPts val="0"/>
              </a:spcAft>
              <a:buClr>
                <a:schemeClr val="lt2"/>
              </a:buClr>
              <a:buSzPts val="1200"/>
              <a:buChar char="○"/>
            </a:pPr>
            <a:r>
              <a:rPr lang="en" sz="1200">
                <a:solidFill>
                  <a:schemeClr val="lt2"/>
                </a:solidFill>
              </a:rPr>
              <a:t>Questions → Answer_Options → Answers</a:t>
            </a:r>
            <a:endParaRPr sz="1200">
              <a:solidFill>
                <a:schemeClr val="lt2"/>
              </a:solidFill>
            </a:endParaRPr>
          </a:p>
          <a:p>
            <a:pPr indent="-304800" lvl="1" marL="914400" rtl="0" algn="l">
              <a:spcBef>
                <a:spcPts val="0"/>
              </a:spcBef>
              <a:spcAft>
                <a:spcPts val="0"/>
              </a:spcAft>
              <a:buClr>
                <a:schemeClr val="lt2"/>
              </a:buClr>
              <a:buSzPts val="1200"/>
              <a:buChar char="○"/>
            </a:pPr>
            <a:r>
              <a:rPr lang="en" sz="1200">
                <a:solidFill>
                  <a:schemeClr val="lt2"/>
                </a:solidFill>
              </a:rPr>
              <a:t>Supports multiple-choice, numeric, and text responses</a:t>
            </a:r>
            <a:endParaRPr sz="1200">
              <a:solidFill>
                <a:schemeClr val="lt2"/>
              </a:solidFill>
            </a:endParaRPr>
          </a:p>
          <a:p>
            <a:pPr indent="-304800" lvl="1" marL="914400" rtl="0" algn="l">
              <a:spcBef>
                <a:spcPts val="0"/>
              </a:spcBef>
              <a:spcAft>
                <a:spcPts val="0"/>
              </a:spcAft>
              <a:buClr>
                <a:schemeClr val="lt2"/>
              </a:buClr>
              <a:buSzPts val="1200"/>
              <a:buChar char="○"/>
            </a:pPr>
            <a:r>
              <a:rPr lang="en" sz="1200">
                <a:solidFill>
                  <a:schemeClr val="lt2"/>
                </a:solidFill>
              </a:rPr>
              <a:t>Enables clean capture of skills, AI usage, salaries, and preferences</a:t>
            </a:r>
            <a:endParaRPr sz="1200">
              <a:solidFill>
                <a:schemeClr val="lt2"/>
              </a:solidFill>
            </a:endParaRPr>
          </a:p>
          <a:p>
            <a:pPr indent="-304800" lvl="0" marL="457200" rtl="0" algn="l">
              <a:spcBef>
                <a:spcPts val="0"/>
              </a:spcBef>
              <a:spcAft>
                <a:spcPts val="0"/>
              </a:spcAft>
              <a:buClr>
                <a:schemeClr val="lt2"/>
              </a:buClr>
              <a:buSzPts val="1200"/>
              <a:buChar char="●"/>
            </a:pPr>
            <a:r>
              <a:rPr b="1" lang="en" sz="1200">
                <a:solidFill>
                  <a:schemeClr val="lt2"/>
                </a:solidFill>
              </a:rPr>
              <a:t>Career &amp; Experience Layer:</a:t>
            </a:r>
            <a:endParaRPr b="1" sz="1200">
              <a:solidFill>
                <a:schemeClr val="lt2"/>
              </a:solidFill>
            </a:endParaRPr>
          </a:p>
          <a:p>
            <a:pPr indent="-304800" lvl="1" marL="914400" rtl="0" algn="l">
              <a:spcBef>
                <a:spcPts val="0"/>
              </a:spcBef>
              <a:spcAft>
                <a:spcPts val="0"/>
              </a:spcAft>
              <a:buClr>
                <a:schemeClr val="lt2"/>
              </a:buClr>
              <a:buSzPts val="1200"/>
              <a:buChar char="○"/>
            </a:pPr>
            <a:r>
              <a:rPr lang="en" sz="1200">
                <a:solidFill>
                  <a:schemeClr val="lt2"/>
                </a:solidFill>
              </a:rPr>
              <a:t>Practical_Experience → internships, projects, work years</a:t>
            </a:r>
            <a:endParaRPr sz="1200">
              <a:solidFill>
                <a:schemeClr val="lt2"/>
              </a:solidFill>
            </a:endParaRPr>
          </a:p>
          <a:p>
            <a:pPr indent="-304800" lvl="1" marL="914400" rtl="0" algn="l">
              <a:spcBef>
                <a:spcPts val="0"/>
              </a:spcBef>
              <a:spcAft>
                <a:spcPts val="0"/>
              </a:spcAft>
              <a:buClr>
                <a:schemeClr val="lt2"/>
              </a:buClr>
              <a:buSzPts val="1200"/>
              <a:buChar char="○"/>
            </a:pPr>
            <a:r>
              <a:rPr lang="en" sz="1200">
                <a:solidFill>
                  <a:schemeClr val="lt2"/>
                </a:solidFill>
              </a:rPr>
              <a:t>Respondent_Roles + Organizations → job titles, company size, industry</a:t>
            </a:r>
            <a:endParaRPr sz="1200">
              <a:solidFill>
                <a:schemeClr val="lt2"/>
              </a:solidFill>
            </a:endParaRPr>
          </a:p>
          <a:p>
            <a:pPr indent="-304800" lvl="1" marL="914400" rtl="0" algn="l">
              <a:spcBef>
                <a:spcPts val="0"/>
              </a:spcBef>
              <a:spcAft>
                <a:spcPts val="0"/>
              </a:spcAft>
              <a:buClr>
                <a:schemeClr val="lt2"/>
              </a:buClr>
              <a:buSzPts val="1200"/>
              <a:buChar char="○"/>
            </a:pPr>
            <a:r>
              <a:rPr lang="en" sz="1200">
                <a:solidFill>
                  <a:schemeClr val="lt2"/>
                </a:solidFill>
              </a:rPr>
              <a:t>Technology_Usages → frequency &amp; purpose of tech usage at work</a:t>
            </a:r>
            <a:endParaRPr sz="1200">
              <a:solidFill>
                <a:schemeClr val="lt2"/>
              </a:solidFill>
            </a:endParaRPr>
          </a:p>
        </p:txBody>
      </p:sp>
      <p:pic>
        <p:nvPicPr>
          <p:cNvPr id="86" name="Google Shape;86;p18"/>
          <p:cNvPicPr preferRelativeResize="0"/>
          <p:nvPr/>
        </p:nvPicPr>
        <p:blipFill>
          <a:blip r:embed="rId4">
            <a:alphaModFix/>
          </a:blip>
          <a:stretch>
            <a:fillRect/>
          </a:stretch>
        </p:blipFill>
        <p:spPr>
          <a:xfrm>
            <a:off x="615749" y="1264600"/>
            <a:ext cx="4085776" cy="33439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u="sng">
                <a:solidFill>
                  <a:schemeClr val="hlink"/>
                </a:solidFill>
                <a:hlinkClick r:id="rId3"/>
              </a:rPr>
              <a:t>DASHBOARD 1: AI Adoption Trends</a:t>
            </a:r>
            <a:endParaRPr/>
          </a:p>
        </p:txBody>
      </p:sp>
      <p:sp>
        <p:nvSpPr>
          <p:cNvPr id="92" name="Google Shape;92;p19"/>
          <p:cNvSpPr txBox="1"/>
          <p:nvPr/>
        </p:nvSpPr>
        <p:spPr>
          <a:xfrm>
            <a:off x="720100" y="1136325"/>
            <a:ext cx="7818600" cy="809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lt2"/>
                </a:solidFill>
                <a:latin typeface="Rajdhani"/>
                <a:ea typeface="Rajdhani"/>
                <a:cs typeface="Rajdhani"/>
                <a:sym typeface="Rajdhani"/>
              </a:rPr>
              <a:t>This dashboard shows where AI and tech skills are most in demand. It highlights the tools developers use, how AI is shaping coding, and what skills drive career opportunities. The core message: students need strong programming fundamentals plus practical AI skills to stay competitive.</a:t>
            </a:r>
            <a:endParaRPr>
              <a:solidFill>
                <a:schemeClr val="lt2"/>
              </a:solidFill>
              <a:latin typeface="Rajdhani"/>
              <a:ea typeface="Rajdhani"/>
              <a:cs typeface="Rajdhani"/>
              <a:sym typeface="Rajdhani"/>
            </a:endParaRPr>
          </a:p>
        </p:txBody>
      </p:sp>
      <p:sp>
        <p:nvSpPr>
          <p:cNvPr id="93" name="Google Shape;93;p19"/>
          <p:cNvSpPr txBox="1"/>
          <p:nvPr/>
        </p:nvSpPr>
        <p:spPr>
          <a:xfrm>
            <a:off x="691000" y="2046875"/>
            <a:ext cx="7762200" cy="1440300"/>
          </a:xfrm>
          <a:prstGeom prst="rect">
            <a:avLst/>
          </a:prstGeom>
          <a:noFill/>
          <a:ln>
            <a:noFill/>
          </a:ln>
        </p:spPr>
        <p:txBody>
          <a:bodyPr anchorCtr="0" anchor="b" bIns="91425" lIns="91425" spcFirstLastPara="1" rIns="91425" wrap="square" tIns="91425">
            <a:noAutofit/>
          </a:bodyPr>
          <a:lstStyle/>
          <a:p>
            <a:pPr indent="0" lvl="0" marL="0" rtl="0" algn="l">
              <a:lnSpc>
                <a:spcPct val="15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Global Demand: </a:t>
            </a:r>
            <a:r>
              <a:rPr lang="en" sz="1200">
                <a:solidFill>
                  <a:schemeClr val="lt2"/>
                </a:solidFill>
                <a:latin typeface="Fira Sans Condensed Light"/>
                <a:ea typeface="Fira Sans Condensed Light"/>
                <a:cs typeface="Fira Sans Condensed Light"/>
                <a:sym typeface="Fira Sans Condensed Light"/>
              </a:rPr>
              <a:t>AI and tech skills vary by region, revealing where opportunities are strongest.</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15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Tech Trends: </a:t>
            </a:r>
            <a:r>
              <a:rPr lang="en" sz="1200">
                <a:solidFill>
                  <a:schemeClr val="lt2"/>
                </a:solidFill>
                <a:latin typeface="Fira Sans Condensed Light"/>
                <a:ea typeface="Fira Sans Condensed Light"/>
                <a:cs typeface="Fira Sans Condensed Light"/>
                <a:sym typeface="Fira Sans Condensed Light"/>
              </a:rPr>
              <a:t>Core languages remain essential, while emerging tools gain adoption.</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15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AI in Workflows: </a:t>
            </a:r>
            <a:r>
              <a:rPr lang="en" sz="1200">
                <a:solidFill>
                  <a:schemeClr val="lt2"/>
                </a:solidFill>
                <a:latin typeface="Fira Sans Condensed Light"/>
                <a:ea typeface="Fira Sans Condensed Light"/>
                <a:cs typeface="Fira Sans Condensed Light"/>
                <a:sym typeface="Fira Sans Condensed Light"/>
              </a:rPr>
              <a:t>AI supports coding, testing, learning, and documentation.</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15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Career Readiness: </a:t>
            </a:r>
            <a:r>
              <a:rPr lang="en" sz="1200">
                <a:solidFill>
                  <a:schemeClr val="lt2"/>
                </a:solidFill>
                <a:latin typeface="Fira Sans Condensed Light"/>
                <a:ea typeface="Fira Sans Condensed Light"/>
                <a:cs typeface="Fira Sans Condensed Light"/>
                <a:sym typeface="Fira Sans Condensed Light"/>
              </a:rPr>
              <a:t>Students need solid fundamentals plus exposure to new tech.</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15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Competitive Edge: </a:t>
            </a:r>
            <a:r>
              <a:rPr lang="en" sz="1200">
                <a:solidFill>
                  <a:schemeClr val="lt2"/>
                </a:solidFill>
                <a:latin typeface="Fira Sans Condensed Light"/>
                <a:ea typeface="Fira Sans Condensed Light"/>
                <a:cs typeface="Fira Sans Condensed Light"/>
                <a:sym typeface="Fira Sans Condensed Light"/>
              </a:rPr>
              <a:t>Adaptability to AI tools is key to staying marketable.</a:t>
            </a:r>
            <a:endParaRPr sz="1200">
              <a:solidFill>
                <a:schemeClr val="lt2"/>
              </a:solidFill>
              <a:latin typeface="Fira Sans Condensed Light"/>
              <a:ea typeface="Fira Sans Condensed Light"/>
              <a:cs typeface="Fira Sans Condensed Light"/>
              <a:sym typeface="Fira Sans Condensed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p20"/>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800" u="sng">
                <a:solidFill>
                  <a:schemeClr val="hlink"/>
                </a:solidFill>
                <a:hlinkClick r:id="rId3"/>
              </a:rPr>
              <a:t>DASHBOARD 2: Programming &amp; Developer Trends </a:t>
            </a:r>
            <a:endParaRPr sz="2800"/>
          </a:p>
        </p:txBody>
      </p:sp>
      <p:sp>
        <p:nvSpPr>
          <p:cNvPr id="99" name="Google Shape;99;p20"/>
          <p:cNvSpPr txBox="1"/>
          <p:nvPr/>
        </p:nvSpPr>
        <p:spPr>
          <a:xfrm>
            <a:off x="720100" y="1112203"/>
            <a:ext cx="7818600" cy="9324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None/>
            </a:pPr>
            <a:r>
              <a:rPr lang="en">
                <a:solidFill>
                  <a:schemeClr val="lt2"/>
                </a:solidFill>
                <a:latin typeface="Fira Sans Condensed Light"/>
                <a:ea typeface="Fira Sans Condensed Light"/>
                <a:cs typeface="Fira Sans Condensed Light"/>
                <a:sym typeface="Fira Sans Condensed Light"/>
              </a:rPr>
              <a:t>This dashboard shows shifting demand towards different languages, and how salary is shaped by experience, role, and language choice. It also shows how company size affects remote-work flexibility, helping students match skills and expectations to real career paths.</a:t>
            </a:r>
            <a:endParaRPr>
              <a:solidFill>
                <a:schemeClr val="lt2"/>
              </a:solidFill>
              <a:latin typeface="Fira Sans Condensed Light"/>
              <a:ea typeface="Fira Sans Condensed Light"/>
              <a:cs typeface="Fira Sans Condensed Light"/>
              <a:sym typeface="Fira Sans Condensed Light"/>
            </a:endParaRPr>
          </a:p>
        </p:txBody>
      </p:sp>
      <p:sp>
        <p:nvSpPr>
          <p:cNvPr id="100" name="Google Shape;100;p20"/>
          <p:cNvSpPr txBox="1"/>
          <p:nvPr/>
        </p:nvSpPr>
        <p:spPr>
          <a:xfrm>
            <a:off x="691000" y="2144925"/>
            <a:ext cx="7762200" cy="1511100"/>
          </a:xfrm>
          <a:prstGeom prst="rect">
            <a:avLst/>
          </a:prstGeom>
          <a:noFill/>
          <a:ln>
            <a:noFill/>
          </a:ln>
        </p:spPr>
        <p:txBody>
          <a:bodyPr anchorCtr="0" anchor="b" bIns="91425" lIns="91425" spcFirstLastPara="1" rIns="91425" wrap="square" tIns="91425">
            <a:noAutofit/>
          </a:bodyPr>
          <a:lstStyle/>
          <a:p>
            <a:pPr indent="0" lvl="0" marL="0" rtl="0" algn="l">
              <a:lnSpc>
                <a:spcPct val="15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Language Trends: </a:t>
            </a:r>
            <a:r>
              <a:rPr lang="en" sz="1200">
                <a:solidFill>
                  <a:schemeClr val="lt2"/>
                </a:solidFill>
                <a:latin typeface="Fira Sans Condensed Light"/>
                <a:ea typeface="Fira Sans Condensed Light"/>
                <a:cs typeface="Fira Sans Condensed Light"/>
                <a:sym typeface="Fira Sans Condensed Light"/>
              </a:rPr>
              <a:t>Developers increasingly prefer modern languages over legacy ones.</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15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Salary Factors: </a:t>
            </a:r>
            <a:r>
              <a:rPr lang="en" sz="1200">
                <a:solidFill>
                  <a:schemeClr val="lt2"/>
                </a:solidFill>
                <a:latin typeface="Fira Sans Condensed Light"/>
                <a:ea typeface="Fira Sans Condensed Light"/>
                <a:cs typeface="Fira Sans Condensed Light"/>
                <a:sym typeface="Fira Sans Condensed Light"/>
              </a:rPr>
              <a:t>Pay varies by experience, role, and language — skill choices matter.</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15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Beyond Degrees: </a:t>
            </a:r>
            <a:r>
              <a:rPr lang="en" sz="1200">
                <a:solidFill>
                  <a:schemeClr val="lt2"/>
                </a:solidFill>
                <a:latin typeface="Fira Sans Condensed Light"/>
                <a:ea typeface="Fira Sans Condensed Light"/>
                <a:cs typeface="Fira Sans Condensed Light"/>
                <a:sym typeface="Fira Sans Condensed Light"/>
              </a:rPr>
              <a:t>Hands-on projects and internships drive practical readiness.</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15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Remote Work: </a:t>
            </a:r>
            <a:r>
              <a:rPr lang="en" sz="1200">
                <a:solidFill>
                  <a:schemeClr val="lt2"/>
                </a:solidFill>
                <a:latin typeface="Fira Sans Condensed Light"/>
                <a:ea typeface="Fira Sans Condensed Light"/>
                <a:cs typeface="Fira Sans Condensed Light"/>
                <a:sym typeface="Fira Sans Condensed Light"/>
              </a:rPr>
              <a:t>Flexibility differs by company size, influencing job expectations.</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15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Student Guidance: </a:t>
            </a:r>
            <a:r>
              <a:rPr lang="en" sz="1200">
                <a:solidFill>
                  <a:schemeClr val="lt2"/>
                </a:solidFill>
                <a:latin typeface="Fira Sans Condensed Light"/>
                <a:ea typeface="Fira Sans Condensed Light"/>
                <a:cs typeface="Fira Sans Condensed Light"/>
                <a:sym typeface="Fira Sans Condensed Light"/>
              </a:rPr>
              <a:t>Focus on high-impact skills, realistic roles, and suitable work environments.</a:t>
            </a:r>
            <a:endParaRPr sz="1200">
              <a:solidFill>
                <a:schemeClr val="lt2"/>
              </a:solidFill>
              <a:latin typeface="Fira Sans Condensed Light"/>
              <a:ea typeface="Fira Sans Condensed Light"/>
              <a:cs typeface="Fira Sans Condensed Light"/>
              <a:sym typeface="Fira Sans Condensed Light"/>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p21"/>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Student Career Impact</a:t>
            </a:r>
            <a:endParaRPr/>
          </a:p>
        </p:txBody>
      </p:sp>
      <p:sp>
        <p:nvSpPr>
          <p:cNvPr id="106" name="Google Shape;106;p21"/>
          <p:cNvSpPr txBox="1"/>
          <p:nvPr/>
        </p:nvSpPr>
        <p:spPr>
          <a:xfrm>
            <a:off x="749175" y="1584250"/>
            <a:ext cx="7492500" cy="31146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Sampling Bias:</a:t>
            </a:r>
            <a:r>
              <a:rPr lang="en" sz="1200">
                <a:solidFill>
                  <a:schemeClr val="lt2"/>
                </a:solidFill>
                <a:latin typeface="Fira Sans Condensed Light"/>
                <a:ea typeface="Fira Sans Condensed Light"/>
                <a:cs typeface="Fira Sans Condensed Light"/>
                <a:sym typeface="Fira Sans Condensed Light"/>
              </a:rPr>
              <a:t> Insights reflect developers active on Stack Overflow; other student populations or regions may differ.</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Data Constraints:</a:t>
            </a:r>
            <a:r>
              <a:rPr lang="en" sz="1200">
                <a:solidFill>
                  <a:schemeClr val="lt2"/>
                </a:solidFill>
                <a:latin typeface="Fira Sans Condensed Light"/>
                <a:ea typeface="Fira Sans Condensed Light"/>
                <a:cs typeface="Fira Sans Condensed Light"/>
                <a:sym typeface="Fira Sans Condensed Light"/>
              </a:rPr>
              <a:t> McKinsey survey required manual extraction from PDF charts, and could not be directly joined with Stack Overflow data.</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Correlation, Not Causation:</a:t>
            </a:r>
            <a:r>
              <a:rPr lang="en" sz="1200">
                <a:solidFill>
                  <a:schemeClr val="lt2"/>
                </a:solidFill>
                <a:latin typeface="Fira Sans Condensed Light"/>
                <a:ea typeface="Fira Sans Condensed Light"/>
                <a:cs typeface="Fira Sans Condensed Light"/>
                <a:sym typeface="Fira Sans Condensed Light"/>
              </a:rPr>
              <a:t> Salary premiums and adoption patterns show association—not guaranteed outcomes.</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Rapid Change:</a:t>
            </a:r>
            <a:r>
              <a:rPr lang="en" sz="1200">
                <a:solidFill>
                  <a:schemeClr val="lt2"/>
                </a:solidFill>
                <a:latin typeface="Fira Sans Condensed Light"/>
                <a:ea typeface="Fira Sans Condensed Light"/>
                <a:cs typeface="Fira Sans Condensed Light"/>
                <a:sym typeface="Fira Sans Condensed Light"/>
              </a:rPr>
              <a:t> AI tools evolve quickly; findings may become outdated within short periods.</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Confidence &amp; Trust: </a:t>
            </a:r>
            <a:r>
              <a:rPr lang="en" sz="1200">
                <a:solidFill>
                  <a:schemeClr val="lt2"/>
                </a:solidFill>
                <a:latin typeface="Fira Sans Condensed Light"/>
                <a:ea typeface="Fira Sans Condensed Light"/>
                <a:cs typeface="Fira Sans Condensed Light"/>
                <a:sym typeface="Fira Sans Condensed Light"/>
              </a:rPr>
              <a:t>A U-shaped trust pattern shows students must vet AI outputs instead of relying blindly.</a:t>
            </a:r>
            <a:endParaRPr sz="1200">
              <a:solidFill>
                <a:schemeClr val="lt2"/>
              </a:solidFill>
              <a:latin typeface="Fira Sans Condensed Light"/>
              <a:ea typeface="Fira Sans Condensed Light"/>
              <a:cs typeface="Fira Sans Condensed Light"/>
              <a:sym typeface="Fira Sans Condensed 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 name="Shape 110"/>
        <p:cNvGrpSpPr/>
        <p:nvPr/>
      </p:nvGrpSpPr>
      <p:grpSpPr>
        <a:xfrm>
          <a:off x="0" y="0"/>
          <a:ext cx="0" cy="0"/>
          <a:chOff x="0" y="0"/>
          <a:chExt cx="0" cy="0"/>
        </a:xfrm>
      </p:grpSpPr>
      <p:sp>
        <p:nvSpPr>
          <p:cNvPr id="111" name="Google Shape;111;p22"/>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Challenges, Risks &amp; Limitations</a:t>
            </a:r>
            <a:endParaRPr sz="2400"/>
          </a:p>
          <a:p>
            <a:pPr indent="0" lvl="0" marL="0" rtl="0" algn="ctr">
              <a:spcBef>
                <a:spcPts val="0"/>
              </a:spcBef>
              <a:spcAft>
                <a:spcPts val="0"/>
              </a:spcAft>
              <a:buNone/>
            </a:pPr>
            <a:r>
              <a:t/>
            </a:r>
            <a:endParaRPr/>
          </a:p>
        </p:txBody>
      </p:sp>
      <p:sp>
        <p:nvSpPr>
          <p:cNvPr id="112" name="Google Shape;112;p22"/>
          <p:cNvSpPr txBox="1"/>
          <p:nvPr/>
        </p:nvSpPr>
        <p:spPr>
          <a:xfrm>
            <a:off x="749175" y="1584250"/>
            <a:ext cx="7492500" cy="31146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Dataset Integration Challenge: </a:t>
            </a:r>
            <a:r>
              <a:rPr lang="en" sz="1200">
                <a:solidFill>
                  <a:schemeClr val="lt2"/>
                </a:solidFill>
                <a:latin typeface="Fira Sans Condensed Light"/>
                <a:ea typeface="Fira Sans Condensed Light"/>
                <a:cs typeface="Fira Sans Condensed Light"/>
                <a:sym typeface="Fira Sans Condensed Light"/>
              </a:rPr>
              <a:t>Stack Overflow + McKinsey AI Survey had structural mismatches.</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Unstructured Data Risk: </a:t>
            </a:r>
            <a:r>
              <a:rPr lang="en" sz="1200">
                <a:solidFill>
                  <a:schemeClr val="lt2"/>
                </a:solidFill>
                <a:latin typeface="Fira Sans Condensed Light"/>
                <a:ea typeface="Fira Sans Condensed Light"/>
                <a:cs typeface="Fira Sans Condensed Light"/>
                <a:sym typeface="Fira Sans Condensed Light"/>
              </a:rPr>
              <a:t>McKinsey data came from PDFs, requiring AI-based extraction.</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Sampling Bias:</a:t>
            </a:r>
            <a:r>
              <a:rPr lang="en" sz="1200">
                <a:solidFill>
                  <a:schemeClr val="lt2"/>
                </a:solidFill>
                <a:latin typeface="Fira Sans Condensed Light"/>
                <a:ea typeface="Fira Sans Condensed Light"/>
                <a:cs typeface="Fira Sans Condensed Light"/>
                <a:sym typeface="Fira Sans Condensed Light"/>
              </a:rPr>
              <a:t> Results mainly reflect active developers, not all students globally.</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Correlation ≠ Causation: </a:t>
            </a:r>
            <a:r>
              <a:rPr lang="en" sz="1200">
                <a:solidFill>
                  <a:schemeClr val="lt2"/>
                </a:solidFill>
                <a:latin typeface="Fira Sans Condensed Light"/>
                <a:ea typeface="Fira Sans Condensed Light"/>
                <a:cs typeface="Fira Sans Condensed Light"/>
                <a:sym typeface="Fira Sans Condensed Light"/>
              </a:rPr>
              <a:t>AI skills and salary links are patterns, not guarantees.</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Rapid Tech Change: </a:t>
            </a:r>
            <a:r>
              <a:rPr lang="en" sz="1200">
                <a:solidFill>
                  <a:schemeClr val="lt2"/>
                </a:solidFill>
                <a:latin typeface="Fira Sans Condensed Light"/>
                <a:ea typeface="Fira Sans Condensed Light"/>
                <a:cs typeface="Fira Sans Condensed Light"/>
                <a:sym typeface="Fira Sans Condensed Light"/>
              </a:rPr>
              <a:t>AI evolves fast, insights can become outdated quickly.</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Trust in AI: </a:t>
            </a:r>
            <a:r>
              <a:rPr lang="en" sz="1200">
                <a:solidFill>
                  <a:schemeClr val="lt2"/>
                </a:solidFill>
                <a:latin typeface="Fira Sans Condensed Light"/>
                <a:ea typeface="Fira Sans Condensed Light"/>
                <a:cs typeface="Fira Sans Condensed Light"/>
                <a:sym typeface="Fira Sans Condensed Light"/>
              </a:rPr>
              <a:t>U-shaped trust pattern shows risk of over-reliance on automation.</a:t>
            </a:r>
            <a:endParaRPr sz="1200">
              <a:solidFill>
                <a:schemeClr val="lt2"/>
              </a:solidFill>
              <a:latin typeface="Fira Sans Condensed Light"/>
              <a:ea typeface="Fira Sans Condensed Light"/>
              <a:cs typeface="Fira Sans Condensed Light"/>
              <a:sym typeface="Fira Sans Condensed Light"/>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23"/>
          <p:cNvSpPr txBox="1"/>
          <p:nvPr>
            <p:ph type="title"/>
          </p:nvPr>
        </p:nvSpPr>
        <p:spPr>
          <a:xfrm>
            <a:off x="720100" y="53950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400"/>
              <a:t>Next Steps &amp; Overall Takeaways</a:t>
            </a:r>
            <a:endParaRPr/>
          </a:p>
        </p:txBody>
      </p:sp>
      <p:sp>
        <p:nvSpPr>
          <p:cNvPr id="118" name="Google Shape;118;p23"/>
          <p:cNvSpPr txBox="1"/>
          <p:nvPr/>
        </p:nvSpPr>
        <p:spPr>
          <a:xfrm>
            <a:off x="749175" y="1584250"/>
            <a:ext cx="7492500" cy="3114600"/>
          </a:xfrm>
          <a:prstGeom prst="rect">
            <a:avLst/>
          </a:prstGeom>
          <a:noFill/>
          <a:ln>
            <a:noFill/>
          </a:ln>
        </p:spPr>
        <p:txBody>
          <a:bodyPr anchorCtr="0" anchor="t" bIns="91425" lIns="91425" spcFirstLastPara="1" rIns="91425" wrap="square" tIns="91425">
            <a:noAutofit/>
          </a:bodyPr>
          <a:lstStyle/>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AI Literacy is Essential: </a:t>
            </a:r>
            <a:r>
              <a:rPr lang="en" sz="1200">
                <a:solidFill>
                  <a:schemeClr val="lt2"/>
                </a:solidFill>
                <a:latin typeface="Fira Sans Condensed Light"/>
                <a:ea typeface="Fira Sans Condensed Light"/>
                <a:cs typeface="Fira Sans Condensed Light"/>
                <a:sym typeface="Fira Sans Condensed Light"/>
              </a:rPr>
              <a:t>AI skills now = career advantage + higher earning potential.</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Skill Progression Path: </a:t>
            </a:r>
            <a:r>
              <a:rPr lang="en" sz="1200">
                <a:solidFill>
                  <a:schemeClr val="lt2"/>
                </a:solidFill>
                <a:latin typeface="Fira Sans Condensed Light"/>
                <a:ea typeface="Fira Sans Condensed Light"/>
                <a:cs typeface="Fira Sans Condensed Light"/>
                <a:sym typeface="Fira Sans Condensed Light"/>
              </a:rPr>
              <a:t>Start with core languages, grow into cloud &amp; enterprise tools.</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Portfolio &gt; Degrees Alone: </a:t>
            </a:r>
            <a:r>
              <a:rPr lang="en" sz="1200">
                <a:solidFill>
                  <a:schemeClr val="lt2"/>
                </a:solidFill>
                <a:latin typeface="Fira Sans Condensed Light"/>
                <a:ea typeface="Fira Sans Condensed Light"/>
                <a:cs typeface="Fira Sans Condensed Light"/>
                <a:sym typeface="Fira Sans Condensed Light"/>
              </a:rPr>
              <a:t>Projects, internships, and hands-on learning matter most.</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Communities Drive Learning: </a:t>
            </a:r>
            <a:r>
              <a:rPr lang="en" sz="1200">
                <a:solidFill>
                  <a:schemeClr val="lt2"/>
                </a:solidFill>
                <a:latin typeface="Fira Sans Condensed Light"/>
                <a:ea typeface="Fira Sans Condensed Light"/>
                <a:cs typeface="Fira Sans Condensed Light"/>
                <a:sym typeface="Fira Sans Condensed Light"/>
              </a:rPr>
              <a:t>Stack Overflow, GitHub, Kaggle, YouTube remain critical.</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Responsible AI Use: </a:t>
            </a:r>
            <a:r>
              <a:rPr lang="en" sz="1200">
                <a:solidFill>
                  <a:schemeClr val="lt2"/>
                </a:solidFill>
                <a:latin typeface="Fira Sans Condensed Light"/>
                <a:ea typeface="Fira Sans Condensed Light"/>
                <a:cs typeface="Fira Sans Condensed Light"/>
                <a:sym typeface="Fira Sans Condensed Light"/>
              </a:rPr>
              <a:t>Strong critical thinking, validation, and ethics are required.</a:t>
            </a:r>
            <a:endParaRPr sz="1200">
              <a:solidFill>
                <a:schemeClr val="lt2"/>
              </a:solidFill>
              <a:latin typeface="Fira Sans Condensed Light"/>
              <a:ea typeface="Fira Sans Condensed Light"/>
              <a:cs typeface="Fira Sans Condensed Light"/>
              <a:sym typeface="Fira Sans Condensed Light"/>
            </a:endParaRPr>
          </a:p>
          <a:p>
            <a:pPr indent="0" lvl="0" marL="0" rtl="0" algn="l">
              <a:lnSpc>
                <a:spcPct val="200000"/>
              </a:lnSpc>
              <a:spcBef>
                <a:spcPts val="0"/>
              </a:spcBef>
              <a:spcAft>
                <a:spcPts val="0"/>
              </a:spcAft>
              <a:buNone/>
            </a:pPr>
            <a:r>
              <a:rPr b="1" lang="en" sz="1200">
                <a:solidFill>
                  <a:schemeClr val="lt2"/>
                </a:solidFill>
                <a:latin typeface="Fira Sans Condensed"/>
                <a:ea typeface="Fira Sans Condensed"/>
                <a:cs typeface="Fira Sans Condensed"/>
                <a:sym typeface="Fira Sans Condensed"/>
              </a:rPr>
              <a:t>Opportunity + Risk: </a:t>
            </a:r>
            <a:r>
              <a:rPr lang="en" sz="1200">
                <a:solidFill>
                  <a:schemeClr val="lt2"/>
                </a:solidFill>
                <a:latin typeface="Fira Sans Condensed Light"/>
                <a:ea typeface="Fira Sans Condensed Light"/>
                <a:cs typeface="Fira Sans Condensed Light"/>
                <a:sym typeface="Fira Sans Condensed Light"/>
              </a:rPr>
              <a:t>Early AI adoption gives advantages—but also requires awareness of bias, ethics, and access gaps.</a:t>
            </a:r>
            <a:endParaRPr sz="1200">
              <a:solidFill>
                <a:schemeClr val="lt2"/>
              </a:solidFill>
              <a:latin typeface="Fira Sans Condensed Light"/>
              <a:ea typeface="Fira Sans Condensed Light"/>
              <a:cs typeface="Fira Sans Condensed Light"/>
              <a:sym typeface="Fira Sans Condensed Light"/>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AI Tech Agency Infographics by Slidesgo">
  <a:themeElements>
    <a:clrScheme name="Simple Light">
      <a:dk1>
        <a:srgbClr val="0C343D"/>
      </a:dk1>
      <a:lt1>
        <a:srgbClr val="00C3B1"/>
      </a:lt1>
      <a:dk2>
        <a:srgbClr val="CC4125"/>
      </a:dk2>
      <a:lt2>
        <a:srgbClr val="F3F3F3"/>
      </a:lt2>
      <a:accent1>
        <a:srgbClr val="0C343D"/>
      </a:accent1>
      <a:accent2>
        <a:srgbClr val="00C3B1"/>
      </a:accent2>
      <a:accent3>
        <a:srgbClr val="CC4125"/>
      </a:accent3>
      <a:accent4>
        <a:srgbClr val="F3F3F3"/>
      </a:accent4>
      <a:accent5>
        <a:srgbClr val="0C343D"/>
      </a:accent5>
      <a:accent6>
        <a:srgbClr val="00C3B1"/>
      </a:accent6>
      <a:hlink>
        <a:srgbClr val="F3F3F3"/>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